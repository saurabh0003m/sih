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line: Only 21% of rural Indians aged 15-24 can search online, use email and bank online (MoSPI CAMS 2022-23). The services exist. People fail at the interface.
Team ID stays blank until the intercollege SIH round is cleared.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screenshot is a real run, not a mock-up: red dot on the amount field, and the panel shows all four steps - 64%, 57%, 51% red, 75%.
Slide 2 is the only slide whose title we choose - 'IDEA TITLE' is a placeholder for the idea's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decisions worth defending out loud:
1. DOM + ARIA, not Chrome's accessibility tree - the computed AX tree needs the debugger permission; DOM traversal is cheaper and more robust on older government markup.
2. Text-first, vision only on failure - we send control names, not screenshots. The vision fallback is documented and NOT built in this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judge pushes on the numbers, the honest answer is the red line: offline matcher, no model, capped below green by design, accuracy unmeasured.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'a Maharashtra study recorded Rs 47', never 'Indians pay Rs 47' - it is a local benchmark, not a national fee.
57% of urban internet users preferred Indic-language content in 2024 (IAMAI-Kantar) - guidance can be spoken in the mother tongue through BHASHINI.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winner decks put clickable links here and on slides 2-3 (Video, Website, Report, GitHub). We have nothing public to link yet - no git remote, demo on localhost, explainer is a private artifact. Fix that before submitting, or carry the prototype open in a tab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09728"/>
            <a:ext cx="123444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6BA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64592" y="109728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Blooded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28016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 PAGE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699248" y="128016"/>
            <a:ext cx="1316736" cy="548640"/>
          </a:xfrm>
          <a:prstGeom prst="rect">
            <a:avLst/>
          </a:prstGeom>
          <a:noFill/>
          <a:ln w="9525">
            <a:solidFill>
              <a:srgbClr val="DDDDDD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2026 logo</a:t>
            </a:r>
            <a:endParaRPr lang="en-US" sz="750" dirty="0"/>
          </a:p>
          <a:p>
            <a:pPr algn="ctr" indent="0" marL="0">
              <a:buNone/>
            </a:pPr>
            <a:r>
              <a:rPr lang="en-US" sz="7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the official template)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1F7A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0" y="483260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595360" y="48326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105156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3000"/>
              </a:lnSpc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ID - </a:t>
            </a:r>
            <a:pPr indent="0" marL="0">
              <a:lnSpc>
                <a:spcPts val="3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26207</a:t>
            </a:r>
            <a:pPr indent="0" marL="0">
              <a:lnSpc>
                <a:spcPts val="3000"/>
              </a:lnSpc>
              <a:buNone/>
            </a:pPr>
            <a:endParaRPr lang="en-US" sz="1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Title - </a:t>
            </a:r>
            <a:pPr indent="0" marL="0">
              <a:lnSpc>
                <a:spcPts val="3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Innovation (bring-your-own idea)</a:t>
            </a:r>
            <a:pPr indent="0" marL="0">
              <a:lnSpc>
                <a:spcPts val="3000"/>
              </a:lnSpc>
              <a:buNone/>
            </a:pPr>
            <a:endParaRPr lang="en-US" sz="1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- </a:t>
            </a:r>
            <a:pPr indent="0" marL="0">
              <a:lnSpc>
                <a:spcPts val="3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Education</a:t>
            </a:r>
            <a:pPr indent="0" marL="0">
              <a:lnSpc>
                <a:spcPts val="3000"/>
              </a:lnSpc>
              <a:buNone/>
            </a:pPr>
            <a:endParaRPr lang="en-US" sz="1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Category - </a:t>
            </a:r>
            <a:pPr indent="0" marL="0">
              <a:lnSpc>
                <a:spcPts val="3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pPr indent="0" marL="0">
              <a:lnSpc>
                <a:spcPts val="3000"/>
              </a:lnSpc>
              <a:buNone/>
            </a:pPr>
            <a:endParaRPr lang="en-US" sz="1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 - </a:t>
            </a:r>
            <a:pPr indent="0" marL="0">
              <a:lnSpc>
                <a:spcPts val="3000"/>
              </a:lnSpc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after the intercollege round</a:t>
            </a:r>
            <a:pPr indent="0" marL="0">
              <a:lnSpc>
                <a:spcPts val="3000"/>
              </a:lnSpc>
              <a:buNone/>
            </a:pPr>
            <a:endParaRPr lang="en-US" sz="1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 - </a:t>
            </a:r>
            <a:pPr indent="0" marL="0">
              <a:lnSpc>
                <a:spcPts val="3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Blooded</a:t>
            </a:r>
            <a:endParaRPr lang="en-US" sz="1300" dirty="0"/>
          </a:p>
        </p:txBody>
      </p:sp>
      <p:pic>
        <p:nvPicPr>
          <p:cNvPr id="10" name="Image 0" descr="F:\SIH\deck\assets\portal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371600"/>
            <a:ext cx="3108960" cy="17487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09728"/>
            <a:ext cx="123444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6BA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64592" y="109728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Blooded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28016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Disha - it points, you click, and then it fades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699248" y="128016"/>
            <a:ext cx="1316736" cy="548640"/>
          </a:xfrm>
          <a:prstGeom prst="rect">
            <a:avLst/>
          </a:prstGeom>
          <a:noFill/>
          <a:ln w="9525">
            <a:solidFill>
              <a:srgbClr val="DDDDDD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2026 logo</a:t>
            </a:r>
            <a:endParaRPr lang="en-US" sz="750" dirty="0"/>
          </a:p>
          <a:p>
            <a:pPr algn="ctr" indent="0" marL="0">
              <a:buNone/>
            </a:pPr>
            <a:r>
              <a:rPr lang="en-US" sz="7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the official template)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1F7A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0" y="483260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595360" y="48326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" y="804672"/>
            <a:ext cx="411480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4A7EB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" y="868680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/ SOLUTION :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84048" y="1115568"/>
            <a:ext cx="385876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Disha reads the page's own controls and their accessible names, then marks the ONE next step with a colour-coded dot.</a:t>
            </a:r>
            <a:endParaRPr lang="en-US" sz="95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click. Disha never can. At an OTP or payment step it pauses and hands control back.</a:t>
            </a:r>
            <a:endParaRPr lang="en-US" sz="95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success dims the dot; five clean repetitions remove it entirely.</a:t>
            </a:r>
            <a:endParaRPr lang="en-US" sz="95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any portal - nothing is scripted in advance.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26280" y="804672"/>
            <a:ext cx="4361688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4A7EB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36008" y="868680"/>
            <a:ext cx="4142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Resolution :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654296" y="1115568"/>
            <a:ext cx="41056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citizen who does not know the word 'withdraw' still finishes the task - and finishes it themselves.</a:t>
            </a:r>
            <a:endParaRPr lang="en-US" sz="85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paid intermediary, no travel, no 'come back next week'.</a:t>
            </a:r>
            <a:endParaRPr lang="en-US" sz="85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points instead of clicking, so it is safe where an autopilot agent is not.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26280" y="2103120"/>
            <a:ext cx="4361688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EB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36008" y="2167128"/>
            <a:ext cx="4142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Value Propositions (UVP) :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654296" y="2414016"/>
            <a:ext cx="4105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you can see - the dot's colour is not the model's self-report; page evidence is scored separately and both must agree.</a:t>
            </a:r>
            <a:endParaRPr lang="en-US" sz="85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teaches, then leaves - guidance fades on success, returns after a mistake.</a:t>
            </a:r>
            <a:endParaRPr lang="en-US" sz="85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integration cost - no ministry rebuilds anything.</a:t>
            </a:r>
            <a:endParaRPr lang="en-US" sz="850" dirty="0"/>
          </a:p>
        </p:txBody>
      </p:sp>
      <p:pic>
        <p:nvPicPr>
          <p:cNvPr id="18" name="Image 0" descr="F:\SIH\deck\assets\demo-step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3401568"/>
            <a:ext cx="2286000" cy="1285875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2697480" y="3474720"/>
            <a:ext cx="61904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shipped product: Microsoft Copilot Vision "Highlights". We do not claim to have invented on-screen pointing. Ours is the combination - exposed confidence, DOM + ARIA grounding, a fading scaffold, and India-specific task packs.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09728"/>
            <a:ext cx="123444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6BA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64592" y="109728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Blooded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28016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APPROACH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699248" y="128016"/>
            <a:ext cx="1316736" cy="548640"/>
          </a:xfrm>
          <a:prstGeom prst="rect">
            <a:avLst/>
          </a:prstGeom>
          <a:noFill/>
          <a:ln w="9525">
            <a:solidFill>
              <a:srgbClr val="DDDDDD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2026 logo</a:t>
            </a:r>
            <a:endParaRPr lang="en-US" sz="750" dirty="0"/>
          </a:p>
          <a:p>
            <a:pPr algn="ctr" indent="0" marL="0">
              <a:buNone/>
            </a:pPr>
            <a:r>
              <a:rPr lang="en-US" sz="7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the official template)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1F7A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0" y="483260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595360" y="48326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" y="804672"/>
            <a:ext cx="32004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EB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" y="86868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used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84048" y="1115568"/>
            <a:ext cx="2944368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V3 Chrome extension, vanilla JavaScript, no build step.</a:t>
            </a:r>
            <a:endParaRPr lang="en-US" sz="90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is pluggable - Gemini free tier, Anthropic, or a local Ollama model with no internet.</a:t>
            </a:r>
            <a:endParaRPr lang="en-US" sz="90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 + ARIA, not Chrome's accessibility tree - that needs the debugger permission and breaks on old government markup.</a:t>
            </a:r>
            <a:endParaRPr lang="en-US" sz="90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grounding (GUI-Actor, MIT) is the documented fallback.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6032" y="3063240"/>
            <a:ext cx="3200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4A7EB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5760" y="3127248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and process for implementation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84048" y="3374136"/>
            <a:ext cx="29443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needs 0.80 model AND 0.75 page evidence.</a:t>
            </a:r>
            <a:endParaRPr lang="en-US" sz="90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display the weaker of the two numbers, never the average - so the number can never contradict the colour.</a:t>
            </a:r>
            <a:endParaRPr lang="en-US" sz="90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prototype, verified end-to-end in a browser.</a:t>
            </a:r>
            <a:endParaRPr lang="en-US" sz="900" dirty="0"/>
          </a:p>
        </p:txBody>
      </p:sp>
      <p:pic>
        <p:nvPicPr>
          <p:cNvPr id="15" name="Image 0" descr="F:\SIH\deck\assets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822960"/>
            <a:ext cx="5303520" cy="298323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3611880" y="3858768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5959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 &gt; enumerate interactive elements + ARIA names &gt; compact text list &gt; model returns {id, confidence} &gt; on-device grounding score &gt; colour band &gt; draw dot &gt; human clicks &gt; wait for DOM to settle &gt; next step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09728"/>
            <a:ext cx="123444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6BA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64592" y="109728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Blooded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28016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AND VIABILITY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699248" y="128016"/>
            <a:ext cx="1316736" cy="548640"/>
          </a:xfrm>
          <a:prstGeom prst="rect">
            <a:avLst/>
          </a:prstGeom>
          <a:noFill/>
          <a:ln w="9525">
            <a:solidFill>
              <a:srgbClr val="DDDDDD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2026 logo</a:t>
            </a:r>
            <a:endParaRPr lang="en-US" sz="750" dirty="0"/>
          </a:p>
          <a:p>
            <a:pPr algn="ctr" indent="0" marL="0">
              <a:buNone/>
            </a:pPr>
            <a:r>
              <a:rPr lang="en-US" sz="7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the official template)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1F7A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0" y="483260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595360" y="48326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" y="804672"/>
            <a:ext cx="28346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EB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" y="868680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of the feasibility of the idea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84048" y="1115568"/>
            <a:ext cx="2578608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Technical, Financial, Market, Operational</a:t>
            </a:r>
            <a:endParaRPr lang="en-US" sz="85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Technical: built and running today; DOM + ARIA works on portals we do not control.</a:t>
            </a:r>
            <a:endParaRPr lang="en-US" sz="85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Financial: a compact text request per step on a free-tier model; local model = zero.</a:t>
            </a:r>
            <a:endParaRPr lang="en-US" sz="85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Operational: installs as an extension. No ministry integration, no portal changes.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182112" y="804672"/>
            <a:ext cx="28346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EB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91840" y="868680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challenges and risks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310128" y="1115568"/>
            <a:ext cx="2578608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Technical, Financial, Market, Operational</a:t>
            </a:r>
            <a:endParaRPr lang="en-US" sz="85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Unlabelled / icon-only controls - our weakest case.</a:t>
            </a:r>
            <a:endParaRPr lang="en-US" sz="85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picks the wrong element.</a:t>
            </a:r>
            <a:endParaRPr lang="en-US" sz="85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Trust: users may over-rely on a confident-looking dot.</a:t>
            </a:r>
            <a:endParaRPr lang="en-US" sz="85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Market: Copilot Vision already points at things.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108192" y="804672"/>
            <a:ext cx="2779776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EB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86868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 for overcoming these challenges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6208" y="1115568"/>
            <a:ext cx="2523744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spcAft>
                <a:spcPts val="5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Methods, principle, Strategies, Algorithms</a:t>
            </a:r>
            <a:endParaRPr lang="en-US" sz="85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Unlabelled controls drop the page score, so the dot goes red - never a silent guess; vision grounding is the fallback.</a:t>
            </a:r>
            <a:endParaRPr lang="en-US" sz="85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pick costs a glance, not a transaction - the human always clicks.</a:t>
            </a:r>
            <a:endParaRPr lang="en-US" sz="85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Over-reliance is answered by the fade itself.</a:t>
            </a:r>
            <a:endParaRPr lang="en-US" sz="850" dirty="0"/>
          </a:p>
        </p:txBody>
      </p:sp>
      <p:pic>
        <p:nvPicPr>
          <p:cNvPr id="18" name="Image 0" descr="F:\SIH\deck\assets\explainer-red-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2907792"/>
            <a:ext cx="2926080" cy="164592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3337560" y="2944368"/>
            <a:ext cx="5550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run: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want to take my money out" produced 64% &gt; 57% &gt; 51% RED &gt; 75% on our practice portal. The amount field scored 0.815 and the confirm button 0.763 - a win by 0.052 is reported as a win by 0.052.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3337560" y="3749040"/>
            <a:ext cx="5550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run used the offline matcher with no model, which is capped below green by design. We have not yet recorded a green dot on stage, and we have not measured accuracy.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09728"/>
            <a:ext cx="123444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6BA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64592" y="109728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Blooded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28016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699248" y="128016"/>
            <a:ext cx="1316736" cy="548640"/>
          </a:xfrm>
          <a:prstGeom prst="rect">
            <a:avLst/>
          </a:prstGeom>
          <a:noFill/>
          <a:ln w="9525">
            <a:solidFill>
              <a:srgbClr val="DDDDDD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2026 logo</a:t>
            </a:r>
            <a:endParaRPr lang="en-US" sz="750" dirty="0"/>
          </a:p>
          <a:p>
            <a:pPr algn="ctr" indent="0" marL="0">
              <a:buNone/>
            </a:pPr>
            <a:r>
              <a:rPr lang="en-US" sz="7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the official template)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1F7A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0" y="483260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595360" y="48326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" y="804672"/>
            <a:ext cx="4206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EB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" y="868680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impact on the target audience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84048" y="1115568"/>
            <a:ext cx="395020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- improvement: the citizen completes the task alone instead of paying someone to click.</a:t>
            </a:r>
            <a:endParaRPr lang="en-US" sz="90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opportunities: a teacher or NGO worker walks a task once and it becomes a pack others reuse.</a:t>
            </a:r>
            <a:endParaRPr lang="en-US" sz="90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- technology adoption: it needs a browser and a first install.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17720" y="804672"/>
            <a:ext cx="427024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EB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27448" y="868680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of the solution (social, economic, environmental, etc.)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745736" y="1115568"/>
            <a:ext cx="401421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- improved access, empowerment: independence on services people are already entitled to.</a:t>
            </a:r>
            <a:endParaRPr lang="en-US" sz="90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- cost: avoids the per-visit intermediary and travel documented in the CSC studies.</a:t>
            </a:r>
            <a:endParaRPr lang="en-US" sz="900" dirty="0"/>
          </a:p>
          <a:p>
            <a:pPr marL="342900" indent="-342900">
              <a:lnSpc>
                <a:spcPts val="1300"/>
              </a:lnSpc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Educational: guidance fades on demonstrated success - active learning +0.47 SD, spaced retrieval g = 0.74.</a:t>
            </a:r>
            <a:endParaRPr lang="en-US" sz="900" dirty="0"/>
          </a:p>
        </p:txBody>
      </p:sp>
      <p:pic>
        <p:nvPicPr>
          <p:cNvPr id="15" name="Image 0" descr="F:\SIH\deck\assets\practice-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2761488"/>
            <a:ext cx="2926080" cy="16459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3337560" y="2798064"/>
            <a:ext cx="5550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11.4% of connected households use the internet for government services, and one in five households using digital services depends on help from outside the household (NCAER, June 2026). A Maharashtra study recorded Rs 47 in service charges plus travel; a Jharkhand study recorded Rs 101 actually paid against a Rs 30 official fee.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3337560" y="3794760"/>
            <a:ext cx="5550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learning figures validate the mechanism, not our product. Say that out loud.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09728"/>
            <a:ext cx="123444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6BA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64592" y="109728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Blooded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28016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AND REFERENCES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699248" y="128016"/>
            <a:ext cx="1316736" cy="548640"/>
          </a:xfrm>
          <a:prstGeom prst="rect">
            <a:avLst/>
          </a:prstGeom>
          <a:noFill/>
          <a:ln w="9525">
            <a:solidFill>
              <a:srgbClr val="DDDDDD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2026 logo</a:t>
            </a:r>
            <a:endParaRPr lang="en-US" sz="750" dirty="0"/>
          </a:p>
          <a:p>
            <a:pPr algn="ctr" indent="0" marL="0">
              <a:buNone/>
            </a:pPr>
            <a:r>
              <a:rPr lang="en-US" sz="75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the official template)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32604"/>
            <a:ext cx="9144000" cy="310896"/>
          </a:xfrm>
          <a:prstGeom prst="rect">
            <a:avLst/>
          </a:prstGeom>
          <a:solidFill>
            <a:srgbClr val="1F7A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0" y="483260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595360" y="48326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8046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 / Links of the reference and research work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MoSPI, Comprehensive Annual Modular Survey 2022-23 - the 21% combined ICT-skill figure.</a:t>
            </a:r>
            <a:endParaRPr lang="en-US" sz="95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NSS 78th Round (2020-21) - computer literacy 24.7% national, 18.1% rural.</a:t>
            </a:r>
            <a:endParaRPr lang="en-US" sz="95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NCAER, The Evolving Landscape of Digital Inclusion in India, June 2026.</a:t>
            </a:r>
            <a:endParaRPr lang="en-US" sz="95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/ MeitY - CSC network: 48.54 crore transactions, 5,01,731 centres, FY 2025-26.</a:t>
            </a:r>
            <a:endParaRPr lang="en-US" sz="95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Freeman et al., PNAS 2014 - active learning, +0.47 SD across 225 studies.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Adesope et al. 2017 (retrieval, g = 0.51); Latimier et al. 2021 (spacing, g = 0.74).</a:t>
            </a:r>
            <a:endParaRPr lang="en-US" sz="95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Renkl et al. - guidance fading triggered by mastery evidence, not elapsed time.</a:t>
            </a:r>
            <a:endParaRPr lang="en-US" sz="95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Copilot Vision release notes - the closest shipped prior art.</a:t>
            </a:r>
            <a:endParaRPr lang="en-US" sz="95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IAMAI-Kantar, Internet in India 2024; BHASHINI metrics dashboard.</a:t>
            </a:r>
            <a:endParaRPr lang="en-US" sz="950" dirty="0"/>
          </a:p>
          <a:p>
            <a:pPr marL="342900" indent="-342900">
              <a:lnSpc>
                <a:spcPts val="1300"/>
              </a:lnSpc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microsoft/GUI-Actor (MIT) - the vision-grounding fallback on our roadmap.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20040" y="434340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on this deck is traced to an exact source line in deck/numbers.md.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Disha - SIH 2026 PS 26207 idea PPT (draft)</dc:title>
  <dc:subject>PptxGenJS Presentation</dc:subject>
  <dc:creator>Code Blooded</dc:creator>
  <cp:lastModifiedBy>Code Blooded</cp:lastModifiedBy>
  <cp:revision>1</cp:revision>
  <dcterms:created xsi:type="dcterms:W3CDTF">2026-09-09T12:30:45Z</dcterms:created>
  <dcterms:modified xsi:type="dcterms:W3CDTF">2026-09-09T12:30:45Z</dcterms:modified>
</cp:coreProperties>
</file>