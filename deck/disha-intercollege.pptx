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 lvl="0">
      <a:defRPr lang="en-US"/>
    </a:defPPr>
    <a:lvl1pPr lvl="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lvl="1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lvl="2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lvl="3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lvl="4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lvl="5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lvl="6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lvl="7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lvl="8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384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6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4"/><Relationship Id="rId7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4.mp4"/><Relationship Id="rId5" Type="http://schemas.microsoft.com/office/2007/relationships/media" Target="../media/media4.mp4"/><Relationship Id="rId10" Type="http://schemas.openxmlformats.org/officeDocument/2006/relationships/image" Target="../media/image9.png"/><Relationship Id="rId4" Type="http://schemas.openxmlformats.org/officeDocument/2006/relationships/video" Target="../media/media2.mp4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40080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26202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1100" b="0" i="0">
                <a:solidFill>
                  <a:srgbClr val="0B305B"/>
                </a:solidFill>
                <a:latin typeface="Arial"/>
              </a:rPr>
              <a:t>  Student Innovation (Open Innovation) — Ideas focused on the intelligent use of resources for transforming and advancements of technology with combining the artificial intelligence to explore more various sources and get valuable insights.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Smart Automation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Code Blooded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Disha — it points, you click, and then it fades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2" name="TextBox 15361"/>
          <p:cNvSpPr txBox="1"/>
          <p:nvPr/>
        </p:nvSpPr>
        <p:spPr>
          <a:xfrm>
            <a:off x="256032" y="786384"/>
            <a:ext cx="11676888" cy="3108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400" b="1" i="0">
                <a:solidFill>
                  <a:srgbClr val="1F497D"/>
                </a:solidFill>
                <a:latin typeface="Arial"/>
              </a:rPr>
              <a:t>Proposed Solution  ·  Detailed explanation of the proposed solution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256032" y="1133856"/>
            <a:ext cx="2086660" cy="11887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4" name="Oval 15363"/>
          <p:cNvSpPr/>
          <p:nvPr/>
        </p:nvSpPr>
        <p:spPr>
          <a:xfrm>
            <a:off x="1107338" y="125272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29184" y="1682495"/>
            <a:ext cx="1940356" cy="585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Open any portal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nothing installed on their side</a:t>
            </a:r>
          </a:p>
        </p:txBody>
      </p:sp>
      <p:sp>
        <p:nvSpPr>
          <p:cNvPr id="15366" name="Right Arrow 15365"/>
          <p:cNvSpPr/>
          <p:nvPr/>
        </p:nvSpPr>
        <p:spPr>
          <a:xfrm>
            <a:off x="2388412" y="1536192"/>
            <a:ext cx="219456" cy="201168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7" name="Rounded Rectangle 15366"/>
          <p:cNvSpPr/>
          <p:nvPr/>
        </p:nvSpPr>
        <p:spPr>
          <a:xfrm>
            <a:off x="2653588" y="1133856"/>
            <a:ext cx="2086660" cy="11887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8" name="Oval 15367"/>
          <p:cNvSpPr/>
          <p:nvPr/>
        </p:nvSpPr>
        <p:spPr>
          <a:xfrm>
            <a:off x="3504895" y="125272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2726740" y="1682495"/>
            <a:ext cx="1940356" cy="585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Disha reads the controls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names and roles, not your text</a:t>
            </a:r>
          </a:p>
        </p:txBody>
      </p:sp>
      <p:sp>
        <p:nvSpPr>
          <p:cNvPr id="15370" name="Right Arrow 15369"/>
          <p:cNvSpPr/>
          <p:nvPr/>
        </p:nvSpPr>
        <p:spPr>
          <a:xfrm>
            <a:off x="4785969" y="1536192"/>
            <a:ext cx="219456" cy="201168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1" name="Rounded Rectangle 15370"/>
          <p:cNvSpPr/>
          <p:nvPr/>
        </p:nvSpPr>
        <p:spPr>
          <a:xfrm>
            <a:off x="5051145" y="1133856"/>
            <a:ext cx="2086660" cy="11887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2" name="Oval 15371"/>
          <p:cNvSpPr/>
          <p:nvPr/>
        </p:nvSpPr>
        <p:spPr>
          <a:xfrm>
            <a:off x="5902452" y="125272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5124297" y="1682495"/>
            <a:ext cx="1940356" cy="585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One dot appears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its colour is the confidence</a:t>
            </a:r>
          </a:p>
        </p:txBody>
      </p:sp>
      <p:sp>
        <p:nvSpPr>
          <p:cNvPr id="15374" name="Right Arrow 15373"/>
          <p:cNvSpPr/>
          <p:nvPr/>
        </p:nvSpPr>
        <p:spPr>
          <a:xfrm>
            <a:off x="7183526" y="1536192"/>
            <a:ext cx="219456" cy="201168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5" name="Rounded Rectangle 15374"/>
          <p:cNvSpPr/>
          <p:nvPr/>
        </p:nvSpPr>
        <p:spPr>
          <a:xfrm>
            <a:off x="7448702" y="1133856"/>
            <a:ext cx="2086660" cy="11887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6" name="Oval 15375"/>
          <p:cNvSpPr/>
          <p:nvPr/>
        </p:nvSpPr>
        <p:spPr>
          <a:xfrm>
            <a:off x="8300008" y="1252728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7521854" y="1682495"/>
            <a:ext cx="1940356" cy="585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You click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Disha never can</a:t>
            </a:r>
          </a:p>
        </p:txBody>
      </p:sp>
      <p:sp>
        <p:nvSpPr>
          <p:cNvPr id="15378" name="Right Arrow 15377"/>
          <p:cNvSpPr/>
          <p:nvPr/>
        </p:nvSpPr>
        <p:spPr>
          <a:xfrm>
            <a:off x="9581083" y="1536192"/>
            <a:ext cx="219456" cy="201168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9" name="Rounded Rectangle 15378"/>
          <p:cNvSpPr/>
          <p:nvPr/>
        </p:nvSpPr>
        <p:spPr>
          <a:xfrm>
            <a:off x="9846259" y="1133856"/>
            <a:ext cx="2086660" cy="11887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80" name="Oval 15379"/>
          <p:cNvSpPr/>
          <p:nvPr/>
        </p:nvSpPr>
        <p:spPr>
          <a:xfrm>
            <a:off x="10697565" y="1252728"/>
            <a:ext cx="384048" cy="384048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9919411" y="1682495"/>
            <a:ext cx="1940356" cy="585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The dot fades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gone after five clean runs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256032" y="2523744"/>
            <a:ext cx="5760720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83" name="Oval 15382"/>
          <p:cNvSpPr/>
          <p:nvPr/>
        </p:nvSpPr>
        <p:spPr>
          <a:xfrm>
            <a:off x="402336" y="269290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4" name="TextBox 15383"/>
          <p:cNvSpPr txBox="1"/>
          <p:nvPr/>
        </p:nvSpPr>
        <p:spPr>
          <a:xfrm>
            <a:off x="566928" y="2596896"/>
            <a:ext cx="5321808" cy="13350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How it addresses the problem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Finishes the task without knowing the word “withdraw”.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No paid intermediary, no travel, no second visit.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Points instead of clicking — safe on Aadhaar and banking.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256032" y="4133087"/>
            <a:ext cx="5760720" cy="184708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86" name="Oval 15385"/>
          <p:cNvSpPr/>
          <p:nvPr/>
        </p:nvSpPr>
        <p:spPr>
          <a:xfrm>
            <a:off x="402336" y="4302252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7" name="TextBox 15386"/>
          <p:cNvSpPr txBox="1"/>
          <p:nvPr/>
        </p:nvSpPr>
        <p:spPr>
          <a:xfrm>
            <a:off x="566928" y="4206240"/>
            <a:ext cx="5321808" cy="17007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Innovation and uniqueness of the solution</a:t>
            </a:r>
          </a:p>
          <a:p>
            <a:pPr>
              <a:spcAft>
                <a:spcPts val="400"/>
              </a:spcAft>
              <a:buNone/>
            </a:pPr>
            <a:r>
              <a:rPr sz="1100" b="0" i="0">
                <a:solidFill>
                  <a:srgbClr val="1A1A1A"/>
                </a:solidFill>
                <a:latin typeface="Arial"/>
              </a:rPr>
              <a:t>Two independent judgements must agree before you see green: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E8E4A"/>
                </a:solidFill>
                <a:latin typeface="Arial"/>
              </a:rPr>
              <a:t>GREEN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model ≥ 0.80  and  page ≥ 0.75</a:t>
            </a:r>
          </a:p>
          <a:p>
            <a:pPr marL="146304" indent="-146304">
              <a:spcAft>
                <a:spcPts val="200"/>
              </a:spcAft>
              <a:buClr>
                <a:srgbClr val="B46A00"/>
              </a:buClr>
              <a:buFont typeface="Arial"/>
              <a:buChar char="•"/>
            </a:pPr>
            <a:r>
              <a:rPr sz="1100" b="1" i="0">
                <a:solidFill>
                  <a:srgbClr val="B46A00"/>
                </a:solidFill>
                <a:latin typeface="Arial"/>
              </a:rPr>
              <a:t>AMBER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best guess — check before clicking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100" b="1" i="0">
                <a:solidFill>
                  <a:srgbClr val="C02727"/>
                </a:solidFill>
                <a:latin typeface="Arial"/>
              </a:rPr>
              <a:t>RED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not sure — verify this one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6144768" y="5825299"/>
            <a:ext cx="5788152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Live capture — four dots, three screens, one goal typed in plain words.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256032" y="6144768"/>
            <a:ext cx="11676888" cy="548640"/>
          </a:xfrm>
          <a:prstGeom prst="roundRect">
            <a:avLst>
              <a:gd name="adj" fmla="val 4500"/>
            </a:avLst>
          </a:prstGeom>
          <a:solidFill>
            <a:srgbClr val="FFF6E6"/>
          </a:solidFill>
          <a:ln w="9525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91" name="TextBox 15390"/>
          <p:cNvSpPr txBox="1"/>
          <p:nvPr/>
        </p:nvSpPr>
        <p:spPr>
          <a:xfrm>
            <a:off x="402336" y="6199632"/>
            <a:ext cx="11384280" cy="4572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7A4A00"/>
                </a:solidFill>
                <a:latin typeface="Arial"/>
              </a:rPr>
              <a:t>Microsoft Copilot Vision already points at things. </a:t>
            </a:r>
            <a:r>
              <a:rPr sz="1100" b="0" i="0">
                <a:solidFill>
                  <a:srgbClr val="5A3E0A"/>
                </a:solidFill>
                <a:latin typeface="Arial"/>
              </a:rPr>
              <a:t>We do not claim to have invented that. Ours is the combination — exposed confidence, DOM + ARIA grounding, a scaffold that removes itself.</a:t>
            </a:r>
          </a:p>
        </p:txBody>
      </p:sp>
      <p:pic>
        <p:nvPicPr>
          <p:cNvPr id="2" name="VIDEO-01-chain">
            <a:hlinkClick r:id="" action="ppaction://media"/>
            <a:extLst>
              <a:ext uri="{FF2B5EF4-FFF2-40B4-BE49-F238E27FC236}">
                <a16:creationId xmlns:a16="http://schemas.microsoft.com/office/drawing/2014/main" id="{9A270D89-1943-0BFE-5E4C-4799A6F923E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144769" y="2523744"/>
            <a:ext cx="5777133" cy="32558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256032" y="786384"/>
            <a:ext cx="484632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Technologies to be used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256032" y="1078992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EFF4FA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Manifest V3 extension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724912" y="1078992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Vanilla JS · no build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56032" y="1426464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EFF4FA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DOM + ARIA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724912" y="1426464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not the a11y tree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256032" y="1773936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EFF4FA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Model is pluggable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724912" y="1773936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Gemini · OpenRouter · local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56032" y="2121408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EFF4FA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Vision fallback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724912" y="2121408"/>
            <a:ext cx="237744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GUI-Actor (MIT), documented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56032" y="2560320"/>
            <a:ext cx="484632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Methodology and process for implementation</a:t>
            </a:r>
          </a:p>
        </p:txBody>
      </p:sp>
      <p:sp>
        <p:nvSpPr>
          <p:cNvPr id="17420" name="Oval 17419"/>
          <p:cNvSpPr/>
          <p:nvPr/>
        </p:nvSpPr>
        <p:spPr>
          <a:xfrm>
            <a:off x="310896" y="2898648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68096" y="2889504"/>
            <a:ext cx="4297680" cy="4754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Read the page</a:t>
            </a:r>
          </a:p>
          <a:p>
            <a:pPr>
              <a:buNone/>
            </a:pPr>
            <a:r>
              <a:rPr sz="1000" b="0" i="0">
                <a:solidFill>
                  <a:srgbClr val="595959"/>
                </a:solidFill>
                <a:latin typeface="Arial"/>
              </a:rPr>
              <a:t>every control, its name and role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310896" y="3447288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68096" y="3438144"/>
            <a:ext cx="4297680" cy="4754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Ask the model</a:t>
            </a:r>
          </a:p>
          <a:p>
            <a:pPr>
              <a:buNone/>
            </a:pPr>
            <a:r>
              <a:rPr sz="1000" b="0" i="0">
                <a:solidFill>
                  <a:srgbClr val="595959"/>
                </a:solidFill>
                <a:latin typeface="Arial"/>
              </a:rPr>
              <a:t>a compact text list, never a screenshot</a:t>
            </a:r>
          </a:p>
        </p:txBody>
      </p:sp>
      <p:sp>
        <p:nvSpPr>
          <p:cNvPr id="17424" name="Oval 17423"/>
          <p:cNvSpPr/>
          <p:nvPr/>
        </p:nvSpPr>
        <p:spPr>
          <a:xfrm>
            <a:off x="310896" y="3995928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68096" y="3986783"/>
            <a:ext cx="4297680" cy="4754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Score it ourselves</a:t>
            </a:r>
          </a:p>
          <a:p>
            <a:pPr>
              <a:buNone/>
            </a:pPr>
            <a:r>
              <a:rPr sz="1000" b="0" i="0">
                <a:solidFill>
                  <a:srgbClr val="595959"/>
                </a:solidFill>
                <a:latin typeface="Arial"/>
              </a:rPr>
              <a:t>on-device, from the page evidence</a:t>
            </a:r>
          </a:p>
        </p:txBody>
      </p:sp>
      <p:sp>
        <p:nvSpPr>
          <p:cNvPr id="17426" name="Oval 17425"/>
          <p:cNvSpPr/>
          <p:nvPr/>
        </p:nvSpPr>
        <p:spPr>
          <a:xfrm>
            <a:off x="310896" y="4544568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68096" y="4535423"/>
            <a:ext cx="4297680" cy="4754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Both must agree</a:t>
            </a:r>
          </a:p>
          <a:p>
            <a:pPr>
              <a:buNone/>
            </a:pPr>
            <a:r>
              <a:rPr sz="1000" b="0" i="0">
                <a:solidFill>
                  <a:srgbClr val="595959"/>
                </a:solidFill>
                <a:latin typeface="Arial"/>
              </a:rPr>
              <a:t>the weaker number becomes the colour</a:t>
            </a:r>
          </a:p>
        </p:txBody>
      </p:sp>
      <p:sp>
        <p:nvSpPr>
          <p:cNvPr id="17428" name="Oval 17427"/>
          <p:cNvSpPr/>
          <p:nvPr/>
        </p:nvSpPr>
        <p:spPr>
          <a:xfrm>
            <a:off x="310896" y="5093208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768096" y="5084064"/>
            <a:ext cx="4297680" cy="4754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Draw one dot</a:t>
            </a:r>
          </a:p>
          <a:p>
            <a:pPr>
              <a:buNone/>
            </a:pPr>
            <a:r>
              <a:rPr sz="1000" b="0" i="0">
                <a:solidFill>
                  <a:srgbClr val="595959"/>
                </a:solidFill>
                <a:latin typeface="Arial"/>
              </a:rPr>
              <a:t>the human clicks; we wait for the DOM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256032" y="5650992"/>
            <a:ext cx="4846320" cy="1024128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1" name="Oval 17430"/>
          <p:cNvSpPr/>
          <p:nvPr/>
        </p:nvSpPr>
        <p:spPr>
          <a:xfrm>
            <a:off x="402336" y="5820155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2" name="TextBox 17431"/>
          <p:cNvSpPr txBox="1"/>
          <p:nvPr/>
        </p:nvSpPr>
        <p:spPr>
          <a:xfrm>
            <a:off x="566928" y="5724144"/>
            <a:ext cx="440740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Working prototype, verified in a browser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00" b="1" i="0">
                <a:solidFill>
                  <a:srgbClr val="1A1A1A"/>
                </a:solidFill>
                <a:latin typeface="Arial"/>
              </a:rPr>
              <a:t>live grounding, colour bands, contingent fading, on-page ask bar, screen share with a real pause, offline mode. Vision fallback and the live-model green dot are next.</a:t>
            </a:r>
          </a:p>
        </p:txBody>
      </p:sp>
      <p:pic>
        <p:nvPicPr>
          <p:cNvPr id="17433" name="Picture 17432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248" y="786384"/>
            <a:ext cx="6519672" cy="4696898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5413248" y="5519858"/>
            <a:ext cx="6519672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Two independent judgements, and the boundary nothing crosses: only control names leave the device.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256032" y="804672"/>
            <a:ext cx="6419088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256032" y="1097280"/>
            <a:ext cx="1536192" cy="10241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329184" y="1170432"/>
            <a:ext cx="138988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Technical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running today, on portals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we do not control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1883664" y="1097280"/>
            <a:ext cx="1536192" cy="10241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1956816" y="1170432"/>
            <a:ext cx="138988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Financial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free-tier model;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a local one costs zero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511296" y="1097280"/>
            <a:ext cx="1536192" cy="10241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3584448" y="1170432"/>
            <a:ext cx="138988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Operational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an extension — no ministry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integration, no portal change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138928" y="1097280"/>
            <a:ext cx="1536192" cy="10241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5212080" y="1170432"/>
            <a:ext cx="1389888" cy="8778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Market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$1,000 Azure credits</a:t>
            </a:r>
          </a:p>
          <a:p>
            <a:pPr algn="ctr">
              <a:buNone/>
            </a:pPr>
            <a:r>
              <a:rPr sz="950" b="0" i="0">
                <a:solidFill>
                  <a:srgbClr val="595959"/>
                </a:solidFill>
                <a:latin typeface="Arial"/>
              </a:rPr>
              <a:t>already in hand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56032" y="2231136"/>
            <a:ext cx="6419088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Potential challenges and risks</a:t>
            </a:r>
            <a:r>
              <a:rPr sz="1300" b="1" i="0">
                <a:solidFill>
                  <a:srgbClr val="595959"/>
                </a:solidFill>
                <a:latin typeface="Arial"/>
              </a:rPr>
              <a:t>   →   </a:t>
            </a:r>
            <a:r>
              <a:rPr sz="1300" b="1" i="0">
                <a:solidFill>
                  <a:srgbClr val="1F497D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256032" y="2542032"/>
            <a:ext cx="2395728" cy="274320"/>
          </a:xfrm>
          <a:prstGeom prst="roundRect">
            <a:avLst>
              <a:gd name="adj" fmla="val 30000"/>
            </a:avLst>
          </a:prstGeom>
          <a:solidFill>
            <a:srgbClr val="FDF0F0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1000" b="0" i="0">
                <a:solidFill>
                  <a:srgbClr val="1A1A1A"/>
                </a:solidFill>
                <a:latin typeface="Arial"/>
              </a:rPr>
              <a:t>Unlabelled / icon-only controls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2724912" y="2615184"/>
            <a:ext cx="201168" cy="137160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TextBox 17421"/>
          <p:cNvSpPr txBox="1"/>
          <p:nvPr/>
        </p:nvSpPr>
        <p:spPr>
          <a:xfrm>
            <a:off x="2999232" y="2560320"/>
            <a:ext cx="3675887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page score drops → the dot goes red, never a silent guess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256032" y="2962656"/>
            <a:ext cx="2395728" cy="274320"/>
          </a:xfrm>
          <a:prstGeom prst="roundRect">
            <a:avLst>
              <a:gd name="adj" fmla="val 30000"/>
            </a:avLst>
          </a:prstGeom>
          <a:solidFill>
            <a:srgbClr val="FDF0F0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1000" b="0" i="0">
                <a:solidFill>
                  <a:srgbClr val="1A1A1A"/>
                </a:solidFill>
                <a:latin typeface="Arial"/>
              </a:rPr>
              <a:t>The model picks the wrong element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2724912" y="3035808"/>
            <a:ext cx="201168" cy="137160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5" name="TextBox 17424"/>
          <p:cNvSpPr txBox="1"/>
          <p:nvPr/>
        </p:nvSpPr>
        <p:spPr>
          <a:xfrm>
            <a:off x="2999232" y="2980944"/>
            <a:ext cx="3675887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a glance wasted, not a transaction — the human always clicks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56032" y="3383279"/>
            <a:ext cx="2395728" cy="274320"/>
          </a:xfrm>
          <a:prstGeom prst="roundRect">
            <a:avLst>
              <a:gd name="adj" fmla="val 30000"/>
            </a:avLst>
          </a:prstGeom>
          <a:solidFill>
            <a:srgbClr val="FDF0F0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1000" b="0" i="0">
                <a:solidFill>
                  <a:srgbClr val="1A1A1A"/>
                </a:solidFill>
                <a:latin typeface="Arial"/>
              </a:rPr>
              <a:t>Users over-trust a confident dot</a:t>
            </a:r>
          </a:p>
        </p:txBody>
      </p:sp>
      <p:sp>
        <p:nvSpPr>
          <p:cNvPr id="17427" name="Right Arrow 17426"/>
          <p:cNvSpPr/>
          <p:nvPr/>
        </p:nvSpPr>
        <p:spPr>
          <a:xfrm>
            <a:off x="2724912" y="3456432"/>
            <a:ext cx="201168" cy="137160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8" name="TextBox 17427"/>
          <p:cNvSpPr txBox="1"/>
          <p:nvPr/>
        </p:nvSpPr>
        <p:spPr>
          <a:xfrm>
            <a:off x="2999232" y="3401568"/>
            <a:ext cx="3675887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fade removes the dot once they can do it alone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256032" y="3803904"/>
            <a:ext cx="2395728" cy="274320"/>
          </a:xfrm>
          <a:prstGeom prst="roundRect">
            <a:avLst>
              <a:gd name="adj" fmla="val 30000"/>
            </a:avLst>
          </a:prstGeom>
          <a:solidFill>
            <a:srgbClr val="FDF0F0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1000" b="0" i="0">
                <a:solidFill>
                  <a:srgbClr val="1A1A1A"/>
                </a:solidFill>
                <a:latin typeface="Arial"/>
              </a:rPr>
              <a:t>Copilot Vision already points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2724912" y="3877056"/>
            <a:ext cx="201168" cy="137160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1" name="TextBox 17430"/>
          <p:cNvSpPr txBox="1"/>
          <p:nvPr/>
        </p:nvSpPr>
        <p:spPr>
          <a:xfrm>
            <a:off x="2999232" y="3822191"/>
            <a:ext cx="3675887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nobody else shows the confidence, or takes it away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903720" y="3679316"/>
            <a:ext cx="5029200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near-tie it refuses to guess — red at 51%, and the card saying why.</a:t>
            </a:r>
          </a:p>
        </p:txBody>
      </p:sp>
      <p:pic>
        <p:nvPicPr>
          <p:cNvPr id="17434" name="Picture 17433" descr="explainer-red-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4069080"/>
            <a:ext cx="4206240" cy="2366010"/>
          </a:xfrm>
          <a:prstGeom prst="rect">
            <a:avLst/>
          </a:prstGeom>
        </p:spPr>
      </p:pic>
      <p:sp>
        <p:nvSpPr>
          <p:cNvPr id="17435" name="Rounded Rectangle 17434"/>
          <p:cNvSpPr/>
          <p:nvPr/>
        </p:nvSpPr>
        <p:spPr>
          <a:xfrm>
            <a:off x="256032" y="4315968"/>
            <a:ext cx="6419088" cy="2359152"/>
          </a:xfrm>
          <a:prstGeom prst="roundRect">
            <a:avLst>
              <a:gd name="adj" fmla="val 4500"/>
            </a:avLst>
          </a:prstGeom>
          <a:solidFill>
            <a:srgbClr val="FDF7F7"/>
          </a:solidFill>
          <a:ln w="9525">
            <a:solidFill>
              <a:srgbClr val="F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6" name="TextBox 17435"/>
          <p:cNvSpPr txBox="1"/>
          <p:nvPr/>
        </p:nvSpPr>
        <p:spPr>
          <a:xfrm>
            <a:off x="420624" y="4389120"/>
            <a:ext cx="6089903" cy="3108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The measured run  ·  “i want to take my money out”</a:t>
            </a:r>
          </a:p>
        </p:txBody>
      </p:sp>
      <p:sp>
        <p:nvSpPr>
          <p:cNvPr id="17437" name="Oval 17436"/>
          <p:cNvSpPr/>
          <p:nvPr/>
        </p:nvSpPr>
        <p:spPr>
          <a:xfrm>
            <a:off x="484632" y="4828032"/>
            <a:ext cx="932688" cy="932688"/>
          </a:xfrm>
          <a:prstGeom prst="ellipse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64%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393192" y="5797296"/>
            <a:ext cx="111556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50" b="1" i="0">
                <a:solidFill>
                  <a:srgbClr val="1A1A1A"/>
                </a:solidFill>
                <a:latin typeface="Arial"/>
              </a:rPr>
              <a:t>Wallet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1670304" y="5212080"/>
            <a:ext cx="237744" cy="164592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0" name="Oval 17439"/>
          <p:cNvSpPr/>
          <p:nvPr/>
        </p:nvSpPr>
        <p:spPr>
          <a:xfrm>
            <a:off x="2161032" y="4828032"/>
            <a:ext cx="932688" cy="932688"/>
          </a:xfrm>
          <a:prstGeom prst="ellipse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57%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2069591" y="5797296"/>
            <a:ext cx="111556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50" b="1" i="0">
                <a:solidFill>
                  <a:srgbClr val="1A1A1A"/>
                </a:solidFill>
                <a:latin typeface="Arial"/>
              </a:rPr>
              <a:t>Withdraw</a:t>
            </a:r>
          </a:p>
        </p:txBody>
      </p:sp>
      <p:sp>
        <p:nvSpPr>
          <p:cNvPr id="17442" name="Right Arrow 17441"/>
          <p:cNvSpPr/>
          <p:nvPr/>
        </p:nvSpPr>
        <p:spPr>
          <a:xfrm>
            <a:off x="3346703" y="5212080"/>
            <a:ext cx="237744" cy="164592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3" name="Oval 17442"/>
          <p:cNvSpPr/>
          <p:nvPr/>
        </p:nvSpPr>
        <p:spPr>
          <a:xfrm>
            <a:off x="3837431" y="4828032"/>
            <a:ext cx="932688" cy="932688"/>
          </a:xfrm>
          <a:prstGeom prst="ellipse">
            <a:avLst/>
          </a:prstGeom>
          <a:solidFill>
            <a:srgbClr val="C0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51%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3745992" y="5797296"/>
            <a:ext cx="111556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50" b="1" i="0">
                <a:solidFill>
                  <a:srgbClr val="1A1A1A"/>
                </a:solidFill>
                <a:latin typeface="Arial"/>
              </a:rPr>
              <a:t>Amount field</a:t>
            </a:r>
          </a:p>
        </p:txBody>
      </p:sp>
      <p:sp>
        <p:nvSpPr>
          <p:cNvPr id="17445" name="Right Arrow 17444"/>
          <p:cNvSpPr/>
          <p:nvPr/>
        </p:nvSpPr>
        <p:spPr>
          <a:xfrm>
            <a:off x="5023103" y="5212080"/>
            <a:ext cx="237744" cy="164592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6" name="Oval 17445"/>
          <p:cNvSpPr/>
          <p:nvPr/>
        </p:nvSpPr>
        <p:spPr>
          <a:xfrm>
            <a:off x="5513831" y="4828032"/>
            <a:ext cx="932688" cy="932688"/>
          </a:xfrm>
          <a:prstGeom prst="ellipse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5422392" y="5797296"/>
            <a:ext cx="111556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50" b="1" i="0">
                <a:solidFill>
                  <a:srgbClr val="1A1A1A"/>
                </a:solidFill>
                <a:latin typeface="Arial"/>
              </a:rPr>
              <a:t>Confirm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420624" y="6272784"/>
            <a:ext cx="6089903" cy="3657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1" i="0">
                <a:solidFill>
                  <a:srgbClr val="C02727"/>
                </a:solidFill>
                <a:latin typeface="Arial"/>
              </a:rPr>
              <a:t>Offline matcher, no model — capped below green by design.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Accuracy is unmeasured; these four numbers are the only ones we quote.</a:t>
            </a:r>
          </a:p>
        </p:txBody>
      </p:sp>
      <p:pic>
        <p:nvPicPr>
          <p:cNvPr id="2" name="VIDEO-02-red-verify">
            <a:hlinkClick r:id="" action="ppaction://media"/>
            <a:extLst>
              <a:ext uri="{FF2B5EF4-FFF2-40B4-BE49-F238E27FC236}">
                <a16:creationId xmlns:a16="http://schemas.microsoft.com/office/drawing/2014/main" id="{220532ED-D6DE-5EF3-0986-C39C8F54E48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903721" y="804673"/>
            <a:ext cx="5019627" cy="282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256032" y="804672"/>
            <a:ext cx="2060448" cy="1481328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347472" y="877824"/>
            <a:ext cx="1877568" cy="13350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3000" b="1" i="0">
                <a:solidFill>
                  <a:srgbClr val="0070C0"/>
                </a:solidFill>
                <a:latin typeface="Arial"/>
              </a:rPr>
              <a:t>21%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rural Indians 15–24 can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search, email and bank online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MoSPI CAMS 2022–23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426208" y="804672"/>
            <a:ext cx="2060448" cy="1481328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2517648" y="877824"/>
            <a:ext cx="1877568" cy="13350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3000" b="1" i="0">
                <a:solidFill>
                  <a:srgbClr val="0070C0"/>
                </a:solidFill>
                <a:latin typeface="Arial"/>
              </a:rPr>
              <a:t>11.4%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connected households use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the internet for gov services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596384" y="804672"/>
            <a:ext cx="2060448" cy="1481328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4687824" y="877824"/>
            <a:ext cx="1877568" cy="13350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3000" b="1" i="0">
                <a:solidFill>
                  <a:srgbClr val="0070C0"/>
                </a:solidFill>
                <a:latin typeface="Arial"/>
              </a:rPr>
              <a:t>1 in 5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households using digital services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depend on help from outside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56032" y="2377440"/>
            <a:ext cx="640080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56032" y="2688336"/>
            <a:ext cx="2990088" cy="1572768"/>
          </a:xfrm>
          <a:prstGeom prst="roundRect">
            <a:avLst>
              <a:gd name="adj" fmla="val 45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384048" y="2761488"/>
            <a:ext cx="2734056" cy="142646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300" b="1" i="0">
                <a:solidFill>
                  <a:srgbClr val="595959"/>
                </a:solidFill>
                <a:latin typeface="Arial"/>
              </a:rPr>
              <a:t>Today</a:t>
            </a:r>
          </a:p>
          <a:p>
            <a:pPr marL="146304" indent="-146304">
              <a:spcAft>
                <a:spcPts val="200"/>
              </a:spcAft>
              <a:buClr>
                <a:srgbClr val="595959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Pays someone at a shop to click</a:t>
            </a:r>
          </a:p>
          <a:p>
            <a:pPr marL="146304" indent="-146304">
              <a:spcAft>
                <a:spcPts val="200"/>
              </a:spcAft>
              <a:buClr>
                <a:srgbClr val="595959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Travels, waits, comes back next week</a:t>
            </a:r>
          </a:p>
          <a:p>
            <a:pPr marL="146304" indent="-146304">
              <a:spcAft>
                <a:spcPts val="200"/>
              </a:spcAft>
              <a:buClr>
                <a:srgbClr val="595959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Learns nothing — same again next time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666744" y="2688336"/>
            <a:ext cx="2990088" cy="1572768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B6D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3794759" y="2761488"/>
            <a:ext cx="2734056" cy="142646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300" b="1" i="0">
                <a:solidFill>
                  <a:srgbClr val="1E8E4A"/>
                </a:solidFill>
                <a:latin typeface="Arial"/>
              </a:rPr>
              <a:t>With Disha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Finishes it themselves, at home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One dot, in their own words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After five clean runs the dot is gone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3328415" y="3346704"/>
            <a:ext cx="256032" cy="237744"/>
          </a:xfrm>
          <a:prstGeom prst="rightArrow">
            <a:avLst/>
          </a:prstGeom>
          <a:solidFill>
            <a:srgbClr val="C8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TextBox 17421"/>
          <p:cNvSpPr txBox="1"/>
          <p:nvPr/>
        </p:nvSpPr>
        <p:spPr>
          <a:xfrm>
            <a:off x="256032" y="4352544"/>
            <a:ext cx="640080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256032" y="4663440"/>
            <a:ext cx="2060448" cy="1060704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B6D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4" name="TextBox 17423"/>
          <p:cNvSpPr txBox="1"/>
          <p:nvPr/>
        </p:nvSpPr>
        <p:spPr>
          <a:xfrm>
            <a:off x="347472" y="4736592"/>
            <a:ext cx="1877568" cy="9144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E8E4A"/>
                </a:solidFill>
                <a:latin typeface="Arial"/>
              </a:rPr>
              <a:t>Social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independence on services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people already qualify for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2426208" y="4663440"/>
            <a:ext cx="2060448" cy="1060704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B6D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6" name="TextBox 17425"/>
          <p:cNvSpPr txBox="1"/>
          <p:nvPr/>
        </p:nvSpPr>
        <p:spPr>
          <a:xfrm>
            <a:off x="2517648" y="4736592"/>
            <a:ext cx="1877568" cy="9144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E8E4A"/>
                </a:solidFill>
                <a:latin typeface="Arial"/>
              </a:rPr>
              <a:t>Economic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no per-visit intermediary,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no travel (CSC studies)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596384" y="4663440"/>
            <a:ext cx="2060448" cy="1060704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B6D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8" name="TextBox 17427"/>
          <p:cNvSpPr txBox="1"/>
          <p:nvPr/>
        </p:nvSpPr>
        <p:spPr>
          <a:xfrm>
            <a:off x="4687824" y="4736592"/>
            <a:ext cx="1877568" cy="9144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1E8E4A"/>
                </a:solidFill>
                <a:latin typeface="Arial"/>
              </a:rPr>
              <a:t>Educational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+0.47 SD active learning,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g = 0.74 spaced retrieval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256032" y="5833872"/>
            <a:ext cx="6400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50" b="1" i="0">
                <a:solidFill>
                  <a:srgbClr val="1A1A1A"/>
                </a:solidFill>
                <a:latin typeface="Arial"/>
              </a:rPr>
              <a:t>Both learning figures validate the mechanism, not our product. </a:t>
            </a:r>
            <a:r>
              <a:rPr sz="1050" b="0" i="0">
                <a:solidFill>
                  <a:srgbClr val="595959"/>
                </a:solidFill>
                <a:latin typeface="Arial"/>
              </a:rPr>
              <a:t>It needs a browser and one install — that is the adoption cost.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858000" y="3705034"/>
            <a:ext cx="5074920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same task three times until the dot is gone.</a:t>
            </a:r>
          </a:p>
        </p:txBody>
      </p:sp>
      <p:pic>
        <p:nvPicPr>
          <p:cNvPr id="17432" name="Picture 17431" descr="practice-por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2340" y="4041648"/>
            <a:ext cx="4206240" cy="2366010"/>
          </a:xfrm>
          <a:prstGeom prst="rect">
            <a:avLst/>
          </a:prstGeom>
        </p:spPr>
      </p:pic>
      <p:sp>
        <p:nvSpPr>
          <p:cNvPr id="17433" name="TextBox 17432"/>
          <p:cNvSpPr txBox="1"/>
          <p:nvPr/>
        </p:nvSpPr>
        <p:spPr>
          <a:xfrm>
            <a:off x="6858000" y="6444234"/>
            <a:ext cx="5074920" cy="2377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Vidya Setu — the student practice portal, safe to fail in.</a:t>
            </a:r>
          </a:p>
        </p:txBody>
      </p:sp>
      <p:pic>
        <p:nvPicPr>
          <p:cNvPr id="2" name="VIDEO-04-fade">
            <a:hlinkClick r:id="" action="ppaction://media"/>
            <a:extLst>
              <a:ext uri="{FF2B5EF4-FFF2-40B4-BE49-F238E27FC236}">
                <a16:creationId xmlns:a16="http://schemas.microsoft.com/office/drawing/2014/main" id="{B1EE2579-2D5B-48B4-2F4E-FBB4A66481E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858000" y="804672"/>
            <a:ext cx="5065258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6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256032" y="804672"/>
            <a:ext cx="11676888" cy="34747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500" b="1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256032" y="1243584"/>
            <a:ext cx="2795778" cy="303580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2" name="Oval 17411"/>
          <p:cNvSpPr/>
          <p:nvPr/>
        </p:nvSpPr>
        <p:spPr>
          <a:xfrm>
            <a:off x="1443609" y="1362456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65760" y="1847088"/>
            <a:ext cx="2576322" cy="3291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350" b="1" i="0">
                <a:solidFill>
                  <a:srgbClr val="1F497D"/>
                </a:solidFill>
                <a:latin typeface="Arial"/>
              </a:rPr>
              <a:t>The problem is real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02336" y="2267712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MoSPI CAMS 2022–23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02336" y="2596896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NSS 78th Round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02336" y="2926080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NCAER, June 2026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02336" y="3255264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PIB · MeitY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84048" y="3675887"/>
            <a:ext cx="2539746" cy="7315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Arial"/>
              </a:rPr>
              <a:t>21% ICT-skill · 1 in 5 households need outside help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16402" y="1243584"/>
            <a:ext cx="2795778" cy="303580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Oval 17419"/>
          <p:cNvSpPr/>
          <p:nvPr/>
        </p:nvSpPr>
        <p:spPr>
          <a:xfrm>
            <a:off x="4403979" y="1362456"/>
            <a:ext cx="420624" cy="420624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326130" y="1847088"/>
            <a:ext cx="2576322" cy="3291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350" b="1" i="0">
                <a:solidFill>
                  <a:srgbClr val="1F497D"/>
                </a:solidFill>
                <a:latin typeface="Arial"/>
              </a:rPr>
              <a:t>The mechanism works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362706" y="2267712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Freeman, PNAS 2014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362706" y="2596896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Adesope 2017 · Latimier 2021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3362706" y="2926080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Renkl et al. — fading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362706" y="3255264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Fitts 1954 · Wobbrock 2009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344418" y="3675887"/>
            <a:ext cx="2539746" cy="7315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Arial"/>
              </a:rPr>
              <a:t>+0.47 SD · g = 0.74 — validates the mechanism, not our product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176772" y="1243584"/>
            <a:ext cx="2795778" cy="303580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8" name="Oval 17427"/>
          <p:cNvSpPr/>
          <p:nvPr/>
        </p:nvSpPr>
        <p:spPr>
          <a:xfrm>
            <a:off x="7364349" y="1362456"/>
            <a:ext cx="420624" cy="420624"/>
          </a:xfrm>
          <a:prstGeom prst="ellipse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286500" y="1847088"/>
            <a:ext cx="2576322" cy="3291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350" b="1" i="0">
                <a:solidFill>
                  <a:srgbClr val="1F497D"/>
                </a:solidFill>
                <a:latin typeface="Arial"/>
              </a:rPr>
              <a:t>The prior art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323076" y="2267712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MS Copilot Vision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323076" y="2596896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microsoft/GUI-Actor (MIT)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6323076" y="2926080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SeeClick · CogAgent · OSWorld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323076" y="3255264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Lazar 2015 · Trewin 2014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304788" y="3675887"/>
            <a:ext cx="2539746" cy="7315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Arial"/>
              </a:rPr>
              <a:t>Pointing already ships. Exposed confidence does not.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9137142" y="1243584"/>
            <a:ext cx="2795778" cy="303580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6" name="Oval 17435"/>
          <p:cNvSpPr/>
          <p:nvPr/>
        </p:nvSpPr>
        <p:spPr>
          <a:xfrm>
            <a:off x="10324719" y="1362456"/>
            <a:ext cx="420624" cy="420624"/>
          </a:xfrm>
          <a:prstGeom prst="ellipse">
            <a:avLst/>
          </a:prstGeom>
          <a:solidFill>
            <a:srgbClr val="C0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246869" y="1847088"/>
            <a:ext cx="2576322" cy="3291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350" b="1" i="0">
                <a:solidFill>
                  <a:srgbClr val="1F497D"/>
                </a:solidFill>
                <a:latin typeface="Arial"/>
              </a:rPr>
              <a:t>Our own evidence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9283446" y="2267712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github.com/Saurabh0003M/SIH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283446" y="2596896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deck/real-site-run.md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9283446" y="2926080"/>
            <a:ext cx="2503170" cy="2743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C8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0" rIns="63500" bIns="0" rtlCol="0" anchor="ctr"/>
          <a:lstStyle/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Red Bull Basement 2026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9265158" y="3346704"/>
            <a:ext cx="2539746" cy="7315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595959"/>
                </a:solidFill>
                <a:latin typeface="Arial"/>
              </a:rPr>
              <a:t>Code, recorded runs, licences — including the ones we got wrong.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256032" y="5047488"/>
            <a:ext cx="11676888" cy="786384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43" name="Oval 17442"/>
          <p:cNvSpPr/>
          <p:nvPr/>
        </p:nvSpPr>
        <p:spPr>
          <a:xfrm>
            <a:off x="402336" y="5216651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4" name="TextBox 17443"/>
          <p:cNvSpPr txBox="1"/>
          <p:nvPr/>
        </p:nvSpPr>
        <p:spPr>
          <a:xfrm>
            <a:off x="566928" y="5120640"/>
            <a:ext cx="11237976" cy="6400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What these sources do NOT say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Accuracy is unmeasured.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48.54 crore counts transactions, not citizens. 21% is a combined ICT-skill measure, not “cannot use a government website”. The learning figures validate the mechanism.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256032" y="5961888"/>
            <a:ext cx="11676888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800" b="1" i="0">
                <a:solidFill>
                  <a:srgbClr val="0070C0"/>
                </a:solidFill>
                <a:latin typeface="Arial"/>
              </a:rPr>
              <a:t>github.com/Saurabh0003M/SIH</a:t>
            </a:r>
          </a:p>
          <a:p>
            <a:pPr algn="ctr">
              <a:buNone/>
            </a:pPr>
            <a:r>
              <a:rPr sz="1050" b="0" i="0">
                <a:solidFill>
                  <a:srgbClr val="595959"/>
                </a:solidFill>
                <a:latin typeface="Arial"/>
              </a:rPr>
              <a:t>the working prototype, the practice portal, every recorded run, and ATTRIBUTION.md — every borrowed repository with its licence and commit hash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46304"/>
            <a:ext cx="11676888" cy="56692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3000" b="1" i="0">
                <a:solidFill>
                  <a:srgbClr val="1F497D"/>
                </a:solidFill>
                <a:latin typeface="Times New Roman"/>
              </a:rPr>
              <a:t>Disha is running. Ask us anything.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3139249"/>
            <a:ext cx="3825239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Four dots, three screens</a:t>
            </a:r>
          </a:p>
          <a:p>
            <a:pPr algn="ctr">
              <a:buNone/>
            </a:pPr>
            <a:r>
              <a:rPr sz="1050" b="0" i="1">
                <a:solidFill>
                  <a:srgbClr val="595959"/>
                </a:solidFill>
                <a:latin typeface="Arial"/>
              </a:rPr>
              <a:t>one goal, typed in plain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1856" y="3139249"/>
            <a:ext cx="3825239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The near-tie it refuses to guess</a:t>
            </a:r>
          </a:p>
          <a:p>
            <a:pPr algn="ctr">
              <a:buNone/>
            </a:pPr>
            <a:r>
              <a:rPr sz="1050" b="0" i="1">
                <a:solidFill>
                  <a:srgbClr val="595959"/>
                </a:solidFill>
                <a:latin typeface="Arial"/>
              </a:rPr>
              <a:t>red at 51%, and the card saying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44256" y="3139249"/>
            <a:ext cx="3825239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Every navigation state</a:t>
            </a:r>
          </a:p>
          <a:p>
            <a:pPr algn="ctr">
              <a:buNone/>
            </a:pPr>
            <a:r>
              <a:rPr sz="1050" b="0" i="1">
                <a:solidFill>
                  <a:srgbClr val="595959"/>
                </a:solidFill>
                <a:latin typeface="Arial"/>
              </a:rPr>
              <a:t>two arrowheads, then one, then the dot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3797617"/>
            <a:ext cx="11676888" cy="289579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" y="3889057"/>
            <a:ext cx="11237976" cy="271291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What you are looking at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Measured on our practice portal: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“i want to take my money out” gave 64% → 57% → 51% red → 75%. That run used the offline matcher with no model, which is capped below green by design.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Green needs two numbers to agree: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model ≥ 0.80 AND page evidence ≥ 0.75. We display the weaker of the two, never the average, so the number can never contradict the colour.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Read-only runs on live public portals: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scholarships.gov.in, swayam.gov.in, aicte-india.org — including the ones it got wrong and reported red. Nothing was clicked on any of them.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What we do not claim: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accuracy is unmeasured, the vision fallback is documented but not built, and Microsoft Copilot Vision already points at things — we say so on slide 2.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Why not let the AI click?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On an Aadhaar or a banking page a wrong click is a transaction, not a glance. And the moment it clicks for you, you have learned nothing. The human clicking is the product.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Who pays for it?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Nobody has to. Free-tier model, or a local one at zero cost that never leaves the machine. Installs as an extension — no ministry integration, no portal changes.</a:t>
            </a:r>
          </a:p>
        </p:txBody>
      </p:sp>
      <p:pic>
        <p:nvPicPr>
          <p:cNvPr id="11" name="VIDEO-01-chain">
            <a:hlinkClick r:id="" action="ppaction://media"/>
            <a:extLst>
              <a:ext uri="{FF2B5EF4-FFF2-40B4-BE49-F238E27FC236}">
                <a16:creationId xmlns:a16="http://schemas.microsoft.com/office/drawing/2014/main" id="{6A13563D-FFF3-3D1B-B169-BBCA8665849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219456" y="932688"/>
            <a:ext cx="3817957" cy="2151697"/>
          </a:xfrm>
          <a:prstGeom prst="rect">
            <a:avLst/>
          </a:prstGeom>
        </p:spPr>
      </p:pic>
      <p:pic>
        <p:nvPicPr>
          <p:cNvPr id="12" name="VIDEO-02-red-verify">
            <a:hlinkClick r:id="" action="ppaction://media"/>
            <a:extLst>
              <a:ext uri="{FF2B5EF4-FFF2-40B4-BE49-F238E27FC236}">
                <a16:creationId xmlns:a16="http://schemas.microsoft.com/office/drawing/2014/main" id="{B0440285-0995-33D0-9134-1F31AF9DCBB3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4181856" y="932688"/>
            <a:ext cx="3817957" cy="2151697"/>
          </a:xfrm>
          <a:prstGeom prst="rect">
            <a:avLst/>
          </a:prstGeom>
        </p:spPr>
      </p:pic>
      <p:pic>
        <p:nvPicPr>
          <p:cNvPr id="13" name="VIDEO-03-navigation">
            <a:hlinkClick r:id="" action="ppaction://media"/>
            <a:extLst>
              <a:ext uri="{FF2B5EF4-FFF2-40B4-BE49-F238E27FC236}">
                <a16:creationId xmlns:a16="http://schemas.microsoft.com/office/drawing/2014/main" id="{52CBF7CC-6A9B-8448-FD0B-78D19A36DF7D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44256" y="932688"/>
            <a:ext cx="3817957" cy="21516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20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0867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0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21967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1334</Words>
  <Application>Microsoft Office PowerPoint</Application>
  <PresentationFormat>Widescreen</PresentationFormat>
  <Paragraphs>193</Paragraphs>
  <Slides>7</Slides>
  <Notes>5</Notes>
  <HiddenSlides>0</HiddenSlides>
  <MMClips>6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2025</vt:lpstr>
      <vt:lpstr> Disha — it points, you click, and then it fades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Saurabh Tomke</cp:lastModifiedBy>
  <cp:revision>1</cp:revision>
  <dcterms:modified xsi:type="dcterms:W3CDTF">2026-09-10T09:01:30Z</dcterms:modified>
</cp:coreProperties>
</file>