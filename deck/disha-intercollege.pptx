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 lvl="0">
      <a:defRPr lang="en-US"/>
    </a:defPPr>
    <a:lvl1pPr lvl="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lvl="1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lvl="2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lvl="3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lvl="4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lvl="5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lvl="6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lvl="7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lvl="8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8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26207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Student Innovation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Smart Education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2000" b="0" i="0">
                <a:solidFill>
                  <a:srgbClr val="0B305B"/>
                </a:solidFill>
                <a:latin typeface="Arial"/>
              </a:rPr>
              <a:t>  Code Blooded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Disha — it points, you click, and then it fades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2" name="TextBox 15361"/>
          <p:cNvSpPr txBox="1"/>
          <p:nvPr/>
        </p:nvSpPr>
        <p:spPr>
          <a:xfrm>
            <a:off x="320040" y="1097280"/>
            <a:ext cx="11521440" cy="3840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20040" y="1517904"/>
            <a:ext cx="7059168" cy="14173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4" name="Oval 15363"/>
          <p:cNvSpPr/>
          <p:nvPr/>
        </p:nvSpPr>
        <p:spPr>
          <a:xfrm>
            <a:off x="466344" y="168706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5" name="TextBox 15364"/>
          <p:cNvSpPr txBox="1"/>
          <p:nvPr/>
        </p:nvSpPr>
        <p:spPr>
          <a:xfrm>
            <a:off x="630936" y="1591056"/>
            <a:ext cx="6620256" cy="12710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Detailed explanation of the proposed solution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Disha reads the page's own controls and their accessible names, then marks the one next step with a colour-coded dot.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You click. Disha never can.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At an OTP or payment step it pauses and hands control back.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Every success dims the dot; five clean repetitions remove it entirely.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Not pre-scripted for any portal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it reads whatever is on screen.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320040" y="3017520"/>
            <a:ext cx="7059168" cy="129844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7" name="Oval 15366"/>
          <p:cNvSpPr/>
          <p:nvPr/>
        </p:nvSpPr>
        <p:spPr>
          <a:xfrm>
            <a:off x="466344" y="31866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8" name="TextBox 15367"/>
          <p:cNvSpPr txBox="1"/>
          <p:nvPr/>
        </p:nvSpPr>
        <p:spPr>
          <a:xfrm>
            <a:off x="630936" y="3090672"/>
            <a:ext cx="6620256" cy="11521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How it addresses the problem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A citizen who does not know the word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withdraw still finishes the task — and finishes it themselves.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No paid intermediary, no travel, no “come back next week”.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Because it points instead of clicking,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it is safe on Aadhaar, banking and scholarship portals where an autopilot agent is not.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320040" y="4407408"/>
            <a:ext cx="7059168" cy="132588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0" name="Oval 15369"/>
          <p:cNvSpPr/>
          <p:nvPr/>
        </p:nvSpPr>
        <p:spPr>
          <a:xfrm>
            <a:off x="466344" y="457657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1" name="TextBox 15370"/>
          <p:cNvSpPr txBox="1"/>
          <p:nvPr/>
        </p:nvSpPr>
        <p:spPr>
          <a:xfrm>
            <a:off x="630936" y="4480560"/>
            <a:ext cx="6620256" cy="117957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Confidence you can see.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dot's colour is not the model's self-report — the page evidence is scored separately and both must agree.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It teaches, then leaves.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Guidance fades on success, returns after a mistake.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Zero integration cost.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No ministry rebuilds anything.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571231" y="3961637"/>
            <a:ext cx="4279392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Live capture — four dots, three screens, one goal typed in plain words.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7571231" y="4553712"/>
            <a:ext cx="4279392" cy="1225296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5" name="TextBox 15374"/>
          <p:cNvSpPr txBox="1"/>
          <p:nvPr/>
        </p:nvSpPr>
        <p:spPr>
          <a:xfrm>
            <a:off x="7717536" y="4608576"/>
            <a:ext cx="3986783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What the colour means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1" i="0">
                <a:solidFill>
                  <a:srgbClr val="1E8E4A"/>
                </a:solidFill>
                <a:latin typeface="Arial"/>
              </a:rPr>
              <a:t>Green: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model ≥ 0.80 and page ≥ 0.75</a:t>
            </a:r>
          </a:p>
          <a:p>
            <a:pPr marL="146304" indent="-146304">
              <a:spcAft>
                <a:spcPts val="200"/>
              </a:spcAft>
              <a:buClr>
                <a:srgbClr val="B46A00"/>
              </a:buClr>
              <a:buFont typeface="Arial"/>
              <a:buChar char="•"/>
            </a:pPr>
            <a:r>
              <a:rPr sz="1050" b="1" i="0">
                <a:solidFill>
                  <a:srgbClr val="B46A00"/>
                </a:solidFill>
                <a:latin typeface="Arial"/>
              </a:rPr>
              <a:t>Amber: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best guess — check before clicking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C02727"/>
                </a:solidFill>
                <a:latin typeface="Arial"/>
              </a:rPr>
              <a:t>Red: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not sure — verify this one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0040" y="5852160"/>
            <a:ext cx="11539728" cy="411480"/>
          </a:xfrm>
          <a:prstGeom prst="roundRect">
            <a:avLst>
              <a:gd name="adj" fmla="val 4500"/>
            </a:avLst>
          </a:prstGeom>
          <a:solidFill>
            <a:srgbClr val="FFF6E6"/>
          </a:solidFill>
          <a:ln w="9525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7" name="TextBox 15376"/>
          <p:cNvSpPr txBox="1"/>
          <p:nvPr/>
        </p:nvSpPr>
        <p:spPr>
          <a:xfrm>
            <a:off x="475488" y="5888736"/>
            <a:ext cx="11247120" cy="34747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7A4A00"/>
                </a:solidFill>
                <a:latin typeface="Arial"/>
              </a:rPr>
              <a:t>Closest shipped product: Microsoft Copilot Vision “Highlights.” </a:t>
            </a:r>
            <a:r>
              <a:rPr sz="1000" b="0" i="0">
                <a:solidFill>
                  <a:srgbClr val="5A3E0A"/>
                </a:solidFill>
                <a:latin typeface="Arial"/>
              </a:rPr>
              <a:t>We do not claim to have invented on-screen pointing. Ours is the combination — exposed confidence, DOM + ARIA grounding, a fading scaffold, and India-specific task packs.</a:t>
            </a:r>
          </a:p>
        </p:txBody>
      </p:sp>
      <p:pic>
        <p:nvPicPr>
          <p:cNvPr id="2" name="VIDEO-01-chain">
            <a:hlinkClick r:id="" action="ppaction://media"/>
            <a:extLst>
              <a:ext uri="{FF2B5EF4-FFF2-40B4-BE49-F238E27FC236}">
                <a16:creationId xmlns:a16="http://schemas.microsoft.com/office/drawing/2014/main" id="{0BD4D49A-99A4-D60E-FECB-80553B67CE3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571232" y="1517904"/>
            <a:ext cx="4279319" cy="240715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0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5577840" cy="171907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66344" y="13578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" y="1261872"/>
            <a:ext cx="5138927" cy="157276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Manifest V3 Chrome extension</a:t>
            </a:r>
            <a:r>
              <a:rPr sz="1050" b="0" i="0">
                <a:solidFill>
                  <a:srgbClr val="1A1A1A"/>
                </a:solidFill>
                <a:latin typeface="Arial"/>
              </a:rPr>
              <a:t>, vanilla JavaScript, no build step.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Model is pluggable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— Gemini free tier, Anthropic, or a local Ollama model with no internet.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DOM + ARIA</a:t>
            </a:r>
            <a:r>
              <a:rPr sz="1050" b="0" i="0">
                <a:solidFill>
                  <a:srgbClr val="1A1A1A"/>
                </a:solidFill>
                <a:latin typeface="Arial"/>
              </a:rPr>
              <a:t>, not Chrome's accessibility tree — that needs the debugger permission and breaks on old government markup.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Vision grounding (GUI-Actor, MIT)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is the documented fallback.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3017520"/>
            <a:ext cx="5577840" cy="21031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66344" y="31866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30936" y="3090672"/>
            <a:ext cx="5138927" cy="19568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  <a:p>
            <a:pPr>
              <a:spcAft>
                <a:spcPts val="500"/>
              </a:spcAft>
              <a:buNone/>
            </a:pPr>
            <a:r>
              <a:rPr sz="950" b="0" i="0">
                <a:solidFill>
                  <a:srgbClr val="1B3A5C"/>
                </a:solidFill>
                <a:latin typeface="Courier New"/>
              </a:rPr>
              <a:t>page → enumerate interactive elements + ARIA names → compact text list → model returns {id, confidence} → on-device grounding score → colour band → draw dot → human clicks → wait for the DOM to settle → next step</a:t>
            </a:r>
          </a:p>
          <a:p>
            <a:pPr marL="146304" indent="-146304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Green needs 0.80 model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and 0.75 page evidence — two numbers, not one.</a:t>
            </a:r>
          </a:p>
          <a:p>
            <a:pPr marL="146304" indent="-146304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We display the weaker of the two, never the average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— so the number can never contradict the colour.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5230368"/>
            <a:ext cx="5577840" cy="1005840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Oval 17416"/>
          <p:cNvSpPr/>
          <p:nvPr/>
        </p:nvSpPr>
        <p:spPr>
          <a:xfrm>
            <a:off x="466344" y="5399531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630936" y="5303520"/>
            <a:ext cx="5138927" cy="85953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Product status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00" b="1" i="0">
                <a:solidFill>
                  <a:srgbClr val="1A1A1A"/>
                </a:solidFill>
                <a:latin typeface="Arial"/>
              </a:rPr>
              <a:t>Working prototype, verified end-to-end in a browser: </a:t>
            </a:r>
            <a:r>
              <a:rPr sz="1000" b="0" i="0">
                <a:solidFill>
                  <a:srgbClr val="1A1A1A"/>
                </a:solidFill>
                <a:latin typeface="Arial"/>
              </a:rPr>
              <a:t>live grounding, colour bands, contingent fading, on-page ask bar, screen share with a real pause, offline mode. Vision fallback and the live-model green dot are next.</a:t>
            </a:r>
          </a:p>
        </p:txBody>
      </p:sp>
      <p:pic>
        <p:nvPicPr>
          <p:cNvPr id="17419" name="Picture 17418" descr="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904" y="1188720"/>
            <a:ext cx="5486400" cy="3086100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6089904" y="4302252"/>
            <a:ext cx="577900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Read → Decide → Guide, and the boundary nothing crosses: only control names leave the device.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144000" y="4882896"/>
            <a:ext cx="2697480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50" b="0" i="1">
                <a:solidFill>
                  <a:srgbClr val="595959"/>
                </a:solidFill>
                <a:latin typeface="Arial"/>
              </a:rPr>
              <a:t>Every navigation state in one take — two arrowheads, then one, then the dot, then the same going up.</a:t>
            </a:r>
          </a:p>
        </p:txBody>
      </p:sp>
      <p:pic>
        <p:nvPicPr>
          <p:cNvPr id="2" name="VIDEO-03-navigation">
            <a:hlinkClick r:id="" action="ppaction://media"/>
            <a:extLst>
              <a:ext uri="{FF2B5EF4-FFF2-40B4-BE49-F238E27FC236}">
                <a16:creationId xmlns:a16="http://schemas.microsoft.com/office/drawing/2014/main" id="{4AC4ADD1-5B93-A86A-3E30-5EC6698CD76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089904" y="4626864"/>
            <a:ext cx="2926030" cy="1645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6903720" cy="12801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66344" y="13578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" y="1261872"/>
            <a:ext cx="6464808" cy="113385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Technical: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built and running today; DOM + ARIA works on portals we do not control.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Financial: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 compact text request per step on a free-tier model; a local model costs zero. Cloud for the next build is already covered — $1,000 in Microsoft Azure credits through Red Bull Basement 2026.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Operational: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installs as an extension. No ministry integration, no portal changes.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2542032"/>
            <a:ext cx="6903720" cy="129844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66344" y="2711196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30936" y="2615184"/>
            <a:ext cx="6464808" cy="11521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Potential challenges and risks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Unlabelled / icon-only controls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— our weakest case.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The model picks the wrong element.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Trust: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users may over-rely on a confident-looking dot.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Market: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Copilot Vision already points at things.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3913632"/>
            <a:ext cx="6903720" cy="129844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Oval 17416"/>
          <p:cNvSpPr/>
          <p:nvPr/>
        </p:nvSpPr>
        <p:spPr>
          <a:xfrm>
            <a:off x="466344" y="4082796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630936" y="3986784"/>
            <a:ext cx="6464808" cy="11521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Strategies for overcoming these challenges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Unlabelled controls drop the page score → the dot goes red</a:t>
            </a:r>
            <a:r>
              <a:rPr sz="1100" b="0" i="0">
                <a:solidFill>
                  <a:srgbClr val="1A1A1A"/>
                </a:solidFill>
                <a:latin typeface="Arial"/>
              </a:rPr>
              <a:t>, never a silent guess; vision grounding is the fallback.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A wrong pick costs a glance, not a transaction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— the human always clicks.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Over-reliance is answered by the fade itself.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0040" y="5285232"/>
            <a:ext cx="6903720" cy="969264"/>
          </a:xfrm>
          <a:prstGeom prst="roundRect">
            <a:avLst>
              <a:gd name="adj" fmla="val 4500"/>
            </a:avLst>
          </a:prstGeom>
          <a:solidFill>
            <a:srgbClr val="FDF0F0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Oval 17419"/>
          <p:cNvSpPr/>
          <p:nvPr/>
        </p:nvSpPr>
        <p:spPr>
          <a:xfrm>
            <a:off x="466344" y="5454396"/>
            <a:ext cx="105156" cy="105156"/>
          </a:xfrm>
          <a:prstGeom prst="ellipse">
            <a:avLst/>
          </a:prstGeom>
          <a:solidFill>
            <a:srgbClr val="C0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630936" y="5358384"/>
            <a:ext cx="6464808" cy="8229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The measured run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“i want to take my money out” on our practice portal: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64% → 57% → 51% red → 75%.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That run used the offline matcher with no model,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which is capped below green by design. Accuracy is unmeasured.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406640" y="3721036"/>
            <a:ext cx="4453128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near-tie that goes red at 51%, and the card that says why.</a:t>
            </a:r>
          </a:p>
        </p:txBody>
      </p:sp>
      <p:pic>
        <p:nvPicPr>
          <p:cNvPr id="17424" name="Picture 17423" descr="explainer-red-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5844" y="4069080"/>
            <a:ext cx="3474720" cy="195453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7406640" y="6041898"/>
            <a:ext cx="4453128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595959"/>
                </a:solidFill>
                <a:latin typeface="Arial"/>
              </a:rPr>
              <a:t>Both numbers, side by side: page 0.815, words 0.763, margin 0.052.</a:t>
            </a:r>
          </a:p>
        </p:txBody>
      </p:sp>
      <p:pic>
        <p:nvPicPr>
          <p:cNvPr id="2" name="VIDEO-02-red-verify">
            <a:hlinkClick r:id="" action="ppaction://media"/>
            <a:extLst>
              <a:ext uri="{FF2B5EF4-FFF2-40B4-BE49-F238E27FC236}">
                <a16:creationId xmlns:a16="http://schemas.microsoft.com/office/drawing/2014/main" id="{744E518E-DC9E-38E4-566B-D4957DF2F2E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406640" y="1188720"/>
            <a:ext cx="4453052" cy="250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6766560" cy="135331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66344" y="135788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630936" y="1261872"/>
            <a:ext cx="6327648" cy="12070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Positive — improvement: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the citizen completes the task alone instead of paying someone to click.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New opportunities: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 teacher or NGO worker walks a task once and it becomes a pack others reuse.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Negative — technology adoption: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it needs a browser and a first install.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2633472"/>
            <a:ext cx="6766560" cy="153619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66344" y="2802636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630936" y="2706624"/>
            <a:ext cx="632764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Social — improved access, empowerment: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independence on services people are already entitled to.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Economic — cost: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avoids the per-visit intermediary and travel documented in the CSC studies.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Educational: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guidance fades on demonstrated success — active learning +0.47 SD, spaced retrieval g = 0.74. Both validate the mechanism, not our product.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4352544"/>
            <a:ext cx="2182368" cy="1883664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429768" y="4407408"/>
            <a:ext cx="1962911" cy="17739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21%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rural Indians aged 15–24 can search, email and bank online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MoSPI CAMS 2022–23, combined ICT-skill measure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612136" y="4352544"/>
            <a:ext cx="2182368" cy="1883664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9" name="TextBox 17418"/>
          <p:cNvSpPr txBox="1"/>
          <p:nvPr/>
        </p:nvSpPr>
        <p:spPr>
          <a:xfrm>
            <a:off x="2721864" y="4407408"/>
            <a:ext cx="1962911" cy="17739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11.4%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connected households use the internet for government services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904232" y="4352544"/>
            <a:ext cx="2182368" cy="1883664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5013960" y="4407408"/>
            <a:ext cx="1962911" cy="177393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1 in 5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households using digital services depends on help from outside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242048" y="3813619"/>
            <a:ext cx="4617720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same task three times until the dot is gone — the education claim, on video.</a:t>
            </a:r>
          </a:p>
        </p:txBody>
      </p:sp>
      <p:pic>
        <p:nvPicPr>
          <p:cNvPr id="17424" name="Picture 17423" descr="practice-por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3548" y="4133087"/>
            <a:ext cx="3474720" cy="195453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7242048" y="6105905"/>
            <a:ext cx="4617720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595959"/>
                </a:solidFill>
                <a:latin typeface="Arial"/>
              </a:rPr>
              <a:t>Vidya Setu — the practice sandbox, shaped like a government portal, safe to fail in.</a:t>
            </a:r>
          </a:p>
        </p:txBody>
      </p:sp>
      <p:pic>
        <p:nvPicPr>
          <p:cNvPr id="2" name="VIDEO-04-fade">
            <a:hlinkClick r:id="" action="ppaction://media"/>
            <a:extLst>
              <a:ext uri="{FF2B5EF4-FFF2-40B4-BE49-F238E27FC236}">
                <a16:creationId xmlns:a16="http://schemas.microsoft.com/office/drawing/2014/main" id="{E17B9D98-7488-0555-54DD-ED20EC7B554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242048" y="1188720"/>
            <a:ext cx="4617642" cy="259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5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Code Blooded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320040" y="1115568"/>
            <a:ext cx="11521440" cy="3657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572768"/>
            <a:ext cx="5577840" cy="21031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484632" y="1682495"/>
            <a:ext cx="5248655" cy="188366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MoSPI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Comprehensive Annual Modular Survey 2022–23 — the 21% combined ICT-skill figure.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NSS 78th Round (2020–21)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computer literacy 24.7% national, 18.1% rural.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NCAER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The Evolving Landscape of Digital Inclusion in India, June 2026.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PIB / MeitY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CSC network: 48.54 crore transactions, 5,01,731 centres, FY 2025–26.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IAMAI–Kantar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Internet in India 2024 · BHASHINI metrics dashboard.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281928" y="1572768"/>
            <a:ext cx="5577840" cy="210312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6446520" y="1682495"/>
            <a:ext cx="5248655" cy="188366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Freeman et al., PNAS 2014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active learning, +0.47 SD across 225 studies.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Adesope et al. 2017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(retrieval, g = 0.51) · </a:t>
            </a:r>
            <a:r>
              <a:rPr sz="1150" b="1" i="0">
                <a:solidFill>
                  <a:srgbClr val="1A1A1A"/>
                </a:solidFill>
                <a:latin typeface="Arial"/>
              </a:rPr>
              <a:t>Latimier et al. 2021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(spacing, g = 0.74).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Renkl et al.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guidance fading triggered by mastery evidence, not elapsed time.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Microsoft Copilot Vision release notes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the closest shipped prior art.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microsoft/GUI-Actor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(MIT) — the vision-grounding fallback on our roadmap.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3767328"/>
            <a:ext cx="11539728" cy="969264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Oval 17415"/>
          <p:cNvSpPr/>
          <p:nvPr/>
        </p:nvSpPr>
        <p:spPr>
          <a:xfrm>
            <a:off x="466344" y="3936491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30936" y="3840480"/>
            <a:ext cx="11100815" cy="82296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What these sources do and do not say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The two learning figures validate the mechanism, not our product.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We have not measured Disha's accuracy, and we do not quote one.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48.54 crore is a count of transactions, not of citizens;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21% is a combined ICT-skill measure, not “cannot use a government website”.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4809744"/>
            <a:ext cx="11539728" cy="1444752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9" name="Oval 17418"/>
          <p:cNvSpPr/>
          <p:nvPr/>
        </p:nvSpPr>
        <p:spPr>
          <a:xfrm>
            <a:off x="466344" y="497890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630936" y="4882896"/>
            <a:ext cx="11027664" cy="129844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Our own work, and where else this idea has been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200" b="1" i="0">
                <a:solidFill>
                  <a:srgbClr val="0070C0"/>
                </a:solidFill>
                <a:latin typeface="Arial"/>
              </a:rPr>
              <a:t>github.com/Saurabh0003M/SIH</a:t>
            </a:r>
            <a:r>
              <a:rPr sz="1100" b="0" i="0">
                <a:solidFill>
                  <a:srgbClr val="1A1A1A"/>
                </a:solidFill>
                <a:latin typeface="Arial"/>
              </a:rPr>
              <a:t> — the working prototype, the practice portal, the recorded runs, and ATTRIBUTION.md: every borrowed repository with its licence and commit hash.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Read-only grounding runs on live public portals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(scholarships.gov.in, swayam.gov.in, aicte-india.org) are recorded in deck/real-site-run.md — including the ones Disha got wrong and reported red.</a:t>
            </a:r>
          </a:p>
          <a:p>
            <a:pPr marL="146304" indent="-146304"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Red Bull Basement 2026: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this idea is in the programme. Participating teams receive $1,000 in Microsoft Azure credits through Microsoft for Startups — an application-phase benefit, not a prize.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1480</Words>
  <Application>Microsoft Office PowerPoint</Application>
  <PresentationFormat>Widescreen</PresentationFormat>
  <Paragraphs>123</Paragraphs>
  <Slides>6</Slides>
  <Notes>5</Notes>
  <HiddenSlides>0</HiddenSlides>
  <MMClips>4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Courier New</vt:lpstr>
      <vt:lpstr>Garamond</vt:lpstr>
      <vt:lpstr>Times New Roman</vt:lpstr>
      <vt:lpstr>TradeGothic</vt:lpstr>
      <vt:lpstr>Office Theme</vt:lpstr>
      <vt:lpstr>SMART INDIA HACKATHON 2025</vt:lpstr>
      <vt:lpstr> Disha — it points, you click, and then it fades</vt:lpstr>
      <vt:lpstr>TECHNICAL APPROACH</vt:lpstr>
      <vt:lpstr>FEASIBILITY AND VIABILITY</vt:lpstr>
      <vt:lpstr>IMPACT AND BENEFITS</vt:lpstr>
      <vt:lpstr>RESEARCH 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Saurabh Tomke</cp:lastModifiedBy>
  <cp:revision>1</cp:revision>
  <dcterms:modified xsi:type="dcterms:W3CDTF">2026-09-10T02:26:19Z</dcterms:modified>
</cp:coreProperties>
</file>