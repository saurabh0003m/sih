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 lvl="0">
      <a:defRPr lang="en-US"/>
    </a:defPPr>
    <a:lvl1pPr lvl="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lvl="1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lvl="2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lvl="3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lvl="4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lvl="5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lvl="6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lvl="7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lvl="8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384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8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2.mp4"/><Relationship Id="rId7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4.mp4"/><Relationship Id="rId5" Type="http://schemas.microsoft.com/office/2007/relationships/media" Target="../media/media4.mp4"/><Relationship Id="rId10" Type="http://schemas.openxmlformats.org/officeDocument/2006/relationships/image" Target="../media/image9.png"/><Relationship Id="rId4" Type="http://schemas.openxmlformats.org/officeDocument/2006/relationships/video" Target="../media/media2.mp4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640080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sz="2000" b="0" i="0">
                <a:solidFill>
                  <a:srgbClr val="0B305B"/>
                </a:solidFill>
                <a:latin typeface="Arial"/>
              </a:rPr>
              <a:t>  26207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sz="2000" b="0" i="0">
                <a:solidFill>
                  <a:srgbClr val="0B305B"/>
                </a:solidFill>
                <a:latin typeface="Arial"/>
              </a:rPr>
              <a:t>  Student Innovation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sz="2000" b="0" i="0">
                <a:solidFill>
                  <a:srgbClr val="0B305B"/>
                </a:solidFill>
                <a:latin typeface="Arial"/>
              </a:rPr>
              <a:t>  Smart Education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  <a:r>
              <a:rPr sz="2000" b="0" i="0">
                <a:solidFill>
                  <a:srgbClr val="0B305B"/>
                </a:solidFill>
                <a:latin typeface="Arial"/>
              </a:rPr>
              <a:t>  Software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r>
              <a:rPr sz="2000" b="0" i="0">
                <a:solidFill>
                  <a:srgbClr val="0B305B"/>
                </a:solidFill>
                <a:latin typeface="Arial"/>
              </a:rPr>
              <a:t>  Code Blooded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133856" y="-91440"/>
            <a:ext cx="9491472" cy="86868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Disha — it points, you click, and then it fades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6304" y="82296"/>
            <a:ext cx="914400" cy="43891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Code Blooded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8480" y="64008"/>
            <a:ext cx="1225296" cy="621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2" name="TextBox 15361"/>
          <p:cNvSpPr txBox="1"/>
          <p:nvPr/>
        </p:nvSpPr>
        <p:spPr>
          <a:xfrm>
            <a:off x="256032" y="804672"/>
            <a:ext cx="11676888" cy="34747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buNone/>
            </a:pPr>
            <a:r>
              <a:rPr sz="1500" b="1" i="0">
                <a:solidFill>
                  <a:srgbClr val="1F497D"/>
                </a:solidFill>
                <a:latin typeface="Arial"/>
              </a:rPr>
              <a:t>Proposed Solution (Describe your Idea/Solution/Prototype)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256032" y="1170432"/>
            <a:ext cx="5760720" cy="1810512"/>
          </a:xfrm>
          <a:prstGeom prst="roundRect">
            <a:avLst>
              <a:gd name="adj" fmla="val 4500"/>
            </a:avLst>
          </a:prstGeom>
          <a:solidFill>
            <a:srgbClr val="F4F7FB"/>
          </a:solidFill>
          <a:ln w="9525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364" name="Oval 15363"/>
          <p:cNvSpPr/>
          <p:nvPr/>
        </p:nvSpPr>
        <p:spPr>
          <a:xfrm>
            <a:off x="402336" y="1339596"/>
            <a:ext cx="105156" cy="10515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5" name="TextBox 15364"/>
          <p:cNvSpPr txBox="1"/>
          <p:nvPr/>
        </p:nvSpPr>
        <p:spPr>
          <a:xfrm>
            <a:off x="566928" y="1243584"/>
            <a:ext cx="5321808" cy="166420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300" b="1" i="0">
                <a:solidFill>
                  <a:srgbClr val="1F497D"/>
                </a:solidFill>
                <a:latin typeface="Arial"/>
              </a:rPr>
              <a:t>Detailed explanation of the proposed solution</a:t>
            </a:r>
          </a:p>
          <a:p>
            <a:pPr marL="146304" indent="-146304">
              <a:spcAft>
                <a:spcPts val="216"/>
              </a:spcAft>
              <a:buClr>
                <a:srgbClr val="0070C0"/>
              </a:buClr>
              <a:buFont typeface="Arial"/>
              <a:buChar char="•"/>
            </a:pPr>
            <a:r>
              <a:rPr sz="1150" b="0" i="0">
                <a:solidFill>
                  <a:srgbClr val="1A1A1A"/>
                </a:solidFill>
                <a:latin typeface="Arial"/>
              </a:rPr>
              <a:t>Disha reads the page's own controls and their accessible names, then marks the one next step with a colour-coded dot.</a:t>
            </a:r>
          </a:p>
          <a:p>
            <a:pPr marL="146304" indent="-146304">
              <a:spcAft>
                <a:spcPts val="216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>
                <a:solidFill>
                  <a:srgbClr val="1A1A1A"/>
                </a:solidFill>
                <a:latin typeface="Arial"/>
              </a:rPr>
              <a:t>You click. Disha never can. </a:t>
            </a:r>
            <a:r>
              <a:rPr sz="1150" b="0" i="0">
                <a:solidFill>
                  <a:srgbClr val="1A1A1A"/>
                </a:solidFill>
                <a:latin typeface="Arial"/>
              </a:rPr>
              <a:t>At an OTP or payment step it pauses and hands control back.</a:t>
            </a:r>
          </a:p>
          <a:p>
            <a:pPr marL="146304" indent="-146304">
              <a:spcAft>
                <a:spcPts val="216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>
                <a:solidFill>
                  <a:srgbClr val="1A1A1A"/>
                </a:solidFill>
                <a:latin typeface="Arial"/>
              </a:rPr>
              <a:t>Every success dims the dot; five clean repetitions remove it entirely.</a:t>
            </a:r>
          </a:p>
          <a:p>
            <a:pPr marL="146304" indent="-146304">
              <a:spcAft>
                <a:spcPts val="216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>
                <a:solidFill>
                  <a:srgbClr val="1A1A1A"/>
                </a:solidFill>
                <a:latin typeface="Arial"/>
              </a:rPr>
              <a:t>Not pre-scripted for any portal</a:t>
            </a:r>
            <a:r>
              <a:rPr sz="1150" b="0" i="0">
                <a:solidFill>
                  <a:srgbClr val="1A1A1A"/>
                </a:solidFill>
                <a:latin typeface="Arial"/>
              </a:rPr>
              <a:t> — it reads whatever is on screen.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256032" y="3054096"/>
            <a:ext cx="5760720" cy="1591056"/>
          </a:xfrm>
          <a:prstGeom prst="roundRect">
            <a:avLst>
              <a:gd name="adj" fmla="val 4500"/>
            </a:avLst>
          </a:prstGeom>
          <a:solidFill>
            <a:srgbClr val="F4F7FB"/>
          </a:solidFill>
          <a:ln w="9525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367" name="Oval 15366"/>
          <p:cNvSpPr/>
          <p:nvPr/>
        </p:nvSpPr>
        <p:spPr>
          <a:xfrm>
            <a:off x="402336" y="3223260"/>
            <a:ext cx="105156" cy="10515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8" name="TextBox 15367"/>
          <p:cNvSpPr txBox="1"/>
          <p:nvPr/>
        </p:nvSpPr>
        <p:spPr>
          <a:xfrm>
            <a:off x="566928" y="3127248"/>
            <a:ext cx="5321808" cy="144475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300" b="1" i="0">
                <a:solidFill>
                  <a:srgbClr val="1F497D"/>
                </a:solidFill>
                <a:latin typeface="Arial"/>
              </a:rPr>
              <a:t>How it addresses the problem</a:t>
            </a:r>
          </a:p>
          <a:p>
            <a:pPr marL="146304" indent="-146304">
              <a:spcAft>
                <a:spcPts val="216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>
                <a:solidFill>
                  <a:srgbClr val="1A1A1A"/>
                </a:solidFill>
                <a:latin typeface="Arial"/>
              </a:rPr>
              <a:t>A citizen who does not know the word </a:t>
            </a:r>
            <a:r>
              <a:rPr sz="1150" b="0" i="0">
                <a:solidFill>
                  <a:srgbClr val="1A1A1A"/>
                </a:solidFill>
                <a:latin typeface="Arial"/>
              </a:rPr>
              <a:t>withdraw still finishes the task — and finishes it themselves.</a:t>
            </a:r>
          </a:p>
          <a:p>
            <a:pPr marL="146304" indent="-146304">
              <a:spcAft>
                <a:spcPts val="216"/>
              </a:spcAft>
              <a:buClr>
                <a:srgbClr val="0070C0"/>
              </a:buClr>
              <a:buFont typeface="Arial"/>
              <a:buChar char="•"/>
            </a:pPr>
            <a:r>
              <a:rPr sz="1150" b="0" i="0">
                <a:solidFill>
                  <a:srgbClr val="1A1A1A"/>
                </a:solidFill>
                <a:latin typeface="Arial"/>
              </a:rPr>
              <a:t>No paid intermediary, no travel, no “come back next week”.</a:t>
            </a:r>
          </a:p>
          <a:p>
            <a:pPr marL="146304" indent="-146304">
              <a:spcAft>
                <a:spcPts val="216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>
                <a:solidFill>
                  <a:srgbClr val="1A1A1A"/>
                </a:solidFill>
                <a:latin typeface="Arial"/>
              </a:rPr>
              <a:t>Because it points instead of clicking, </a:t>
            </a:r>
            <a:r>
              <a:rPr sz="1150" b="0" i="0">
                <a:solidFill>
                  <a:srgbClr val="1A1A1A"/>
                </a:solidFill>
                <a:latin typeface="Arial"/>
              </a:rPr>
              <a:t>it is safe on Aadhaar, banking and scholarship portals where an autopilot agent is not.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256032" y="4718304"/>
            <a:ext cx="5760720" cy="1572768"/>
          </a:xfrm>
          <a:prstGeom prst="roundRect">
            <a:avLst>
              <a:gd name="adj" fmla="val 4500"/>
            </a:avLst>
          </a:prstGeom>
          <a:solidFill>
            <a:srgbClr val="F4F7FB"/>
          </a:solidFill>
          <a:ln w="9525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370" name="Oval 15369"/>
          <p:cNvSpPr/>
          <p:nvPr/>
        </p:nvSpPr>
        <p:spPr>
          <a:xfrm>
            <a:off x="402336" y="4887468"/>
            <a:ext cx="105156" cy="10515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1" name="TextBox 15370"/>
          <p:cNvSpPr txBox="1"/>
          <p:nvPr/>
        </p:nvSpPr>
        <p:spPr>
          <a:xfrm>
            <a:off x="566928" y="4791456"/>
            <a:ext cx="5321808" cy="142646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300" b="1" i="0">
                <a:solidFill>
                  <a:srgbClr val="1F497D"/>
                </a:solidFill>
                <a:latin typeface="Arial"/>
              </a:rPr>
              <a:t>Innovation and uniqueness of the solution</a:t>
            </a:r>
          </a:p>
          <a:p>
            <a:pPr marL="146304" indent="-146304">
              <a:spcAft>
                <a:spcPts val="216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>
                <a:solidFill>
                  <a:srgbClr val="1A1A1A"/>
                </a:solidFill>
                <a:latin typeface="Arial"/>
              </a:rPr>
              <a:t>Confidence you can see. </a:t>
            </a:r>
            <a:r>
              <a:rPr sz="1150" b="0" i="0">
                <a:solidFill>
                  <a:srgbClr val="1A1A1A"/>
                </a:solidFill>
                <a:latin typeface="Arial"/>
              </a:rPr>
              <a:t>The dot's colour is not the model's self-report — the page evidence is scored separately and both must agree.</a:t>
            </a:r>
          </a:p>
          <a:p>
            <a:pPr marL="146304" indent="-146304">
              <a:spcAft>
                <a:spcPts val="216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>
                <a:solidFill>
                  <a:srgbClr val="1A1A1A"/>
                </a:solidFill>
                <a:latin typeface="Arial"/>
              </a:rPr>
              <a:t>It teaches, then leaves. </a:t>
            </a:r>
            <a:r>
              <a:rPr sz="1150" b="0" i="0">
                <a:solidFill>
                  <a:srgbClr val="1A1A1A"/>
                </a:solidFill>
                <a:latin typeface="Arial"/>
              </a:rPr>
              <a:t>Guidance fades on success, returns after a mistake.</a:t>
            </a:r>
          </a:p>
          <a:p>
            <a:pPr marL="146304" indent="-146304">
              <a:spcAft>
                <a:spcPts val="216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>
                <a:solidFill>
                  <a:srgbClr val="1A1A1A"/>
                </a:solidFill>
                <a:latin typeface="Arial"/>
              </a:rPr>
              <a:t>Zero integration cost. </a:t>
            </a:r>
            <a:r>
              <a:rPr sz="1150" b="0" i="0">
                <a:solidFill>
                  <a:srgbClr val="1A1A1A"/>
                </a:solidFill>
                <a:latin typeface="Arial"/>
              </a:rPr>
              <a:t>No ministry rebuilds anything.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6144768" y="4471987"/>
            <a:ext cx="5788152" cy="29260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buNone/>
            </a:pPr>
            <a:r>
              <a:rPr sz="900" b="0" i="1">
                <a:solidFill>
                  <a:srgbClr val="595959"/>
                </a:solidFill>
                <a:latin typeface="Arial"/>
              </a:rPr>
              <a:t>Live capture — four dots, three screens, one goal typed in plain words.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6144768" y="4809744"/>
            <a:ext cx="5788152" cy="1481328"/>
          </a:xfrm>
          <a:prstGeom prst="roundRect">
            <a:avLst>
              <a:gd name="adj" fmla="val 4500"/>
            </a:avLst>
          </a:prstGeom>
          <a:solidFill>
            <a:srgbClr val="F4F7FB"/>
          </a:solidFill>
          <a:ln w="9525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375" name="TextBox 15374"/>
          <p:cNvSpPr txBox="1"/>
          <p:nvPr/>
        </p:nvSpPr>
        <p:spPr>
          <a:xfrm>
            <a:off x="6291072" y="4882896"/>
            <a:ext cx="5495544" cy="135331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sz="1200" b="1" i="0">
                <a:solidFill>
                  <a:srgbClr val="1F497D"/>
                </a:solidFill>
                <a:latin typeface="Arial"/>
              </a:rPr>
              <a:t>What the colour means</a:t>
            </a:r>
          </a:p>
          <a:p>
            <a:pPr marL="146304" indent="-146304">
              <a:spcAft>
                <a:spcPts val="200"/>
              </a:spcAft>
              <a:buClr>
                <a:srgbClr val="1E8E4A"/>
              </a:buClr>
              <a:buFont typeface="Arial"/>
              <a:buChar char="•"/>
            </a:pPr>
            <a:r>
              <a:rPr sz="1050" b="1" i="0">
                <a:solidFill>
                  <a:srgbClr val="1E8E4A"/>
                </a:solidFill>
                <a:latin typeface="Arial"/>
              </a:rPr>
              <a:t>Green: </a:t>
            </a:r>
            <a:r>
              <a:rPr sz="1050" b="0" i="0">
                <a:solidFill>
                  <a:srgbClr val="1A1A1A"/>
                </a:solidFill>
                <a:latin typeface="Arial"/>
              </a:rPr>
              <a:t>model ≥ 0.80 and page ≥ 0.75</a:t>
            </a:r>
          </a:p>
          <a:p>
            <a:pPr marL="146304" indent="-146304">
              <a:spcAft>
                <a:spcPts val="200"/>
              </a:spcAft>
              <a:buClr>
                <a:srgbClr val="B46A00"/>
              </a:buClr>
              <a:buFont typeface="Arial"/>
              <a:buChar char="•"/>
            </a:pPr>
            <a:r>
              <a:rPr sz="1050" b="1" i="0">
                <a:solidFill>
                  <a:srgbClr val="B46A00"/>
                </a:solidFill>
                <a:latin typeface="Arial"/>
              </a:rPr>
              <a:t>Amber: </a:t>
            </a:r>
            <a:r>
              <a:rPr sz="1050" b="0" i="0">
                <a:solidFill>
                  <a:srgbClr val="1A1A1A"/>
                </a:solidFill>
                <a:latin typeface="Arial"/>
              </a:rPr>
              <a:t>best guess — check before clicking</a:t>
            </a:r>
          </a:p>
          <a:p>
            <a:pPr marL="146304" indent="-146304">
              <a:spcAft>
                <a:spcPts val="200"/>
              </a:spcAft>
              <a:buClr>
                <a:srgbClr val="C02727"/>
              </a:buClr>
              <a:buFont typeface="Arial"/>
              <a:buChar char="•"/>
            </a:pPr>
            <a:r>
              <a:rPr sz="1050" b="1" i="0">
                <a:solidFill>
                  <a:srgbClr val="C02727"/>
                </a:solidFill>
                <a:latin typeface="Arial"/>
              </a:rPr>
              <a:t>Red: </a:t>
            </a:r>
            <a:r>
              <a:rPr sz="1050" b="0" i="0">
                <a:solidFill>
                  <a:srgbClr val="1A1A1A"/>
                </a:solidFill>
                <a:latin typeface="Arial"/>
              </a:rPr>
              <a:t>not sure — verify this one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256032" y="6345936"/>
            <a:ext cx="11676888" cy="384048"/>
          </a:xfrm>
          <a:prstGeom prst="roundRect">
            <a:avLst>
              <a:gd name="adj" fmla="val 4500"/>
            </a:avLst>
          </a:prstGeom>
          <a:solidFill>
            <a:srgbClr val="FFF6E6"/>
          </a:solidFill>
          <a:ln w="9525">
            <a:solidFill>
              <a:srgbClr val="F0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377" name="TextBox 15376"/>
          <p:cNvSpPr txBox="1"/>
          <p:nvPr/>
        </p:nvSpPr>
        <p:spPr>
          <a:xfrm>
            <a:off x="402336" y="6373368"/>
            <a:ext cx="11384280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buNone/>
            </a:pPr>
            <a:r>
              <a:rPr sz="1000" b="1" i="0">
                <a:solidFill>
                  <a:srgbClr val="7A4A00"/>
                </a:solidFill>
                <a:latin typeface="Arial"/>
              </a:rPr>
              <a:t>Closest shipped product: Microsoft Copilot Vision “Highlights.” </a:t>
            </a:r>
            <a:r>
              <a:rPr sz="1000" b="0" i="0">
                <a:solidFill>
                  <a:srgbClr val="5A3E0A"/>
                </a:solidFill>
                <a:latin typeface="Arial"/>
              </a:rPr>
              <a:t>We do not claim to have invented on-screen pointing. Ours is the combination — exposed confidence, DOM + ARIA grounding, a fading scaffold, and India-specific task packs.</a:t>
            </a:r>
          </a:p>
        </p:txBody>
      </p:sp>
      <p:pic>
        <p:nvPicPr>
          <p:cNvPr id="2" name="VIDEO-01-chain">
            <a:hlinkClick r:id="" action="ppaction://media"/>
            <a:extLst>
              <a:ext uri="{FF2B5EF4-FFF2-40B4-BE49-F238E27FC236}">
                <a16:creationId xmlns:a16="http://schemas.microsoft.com/office/drawing/2014/main" id="{26F2EF4B-53EE-EA8C-D9B0-83BDD5FB8FD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144769" y="1170432"/>
            <a:ext cx="5777133" cy="32558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2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133856" y="-91440"/>
            <a:ext cx="9491472" cy="86868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6304" y="82296"/>
            <a:ext cx="914400" cy="43891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Code Blooded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8480" y="64008"/>
            <a:ext cx="1225296" cy="621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Rounded Rectangle 17409"/>
          <p:cNvSpPr/>
          <p:nvPr/>
        </p:nvSpPr>
        <p:spPr>
          <a:xfrm>
            <a:off x="256032" y="841248"/>
            <a:ext cx="4846320" cy="2011680"/>
          </a:xfrm>
          <a:prstGeom prst="roundRect">
            <a:avLst>
              <a:gd name="adj" fmla="val 4500"/>
            </a:avLst>
          </a:prstGeom>
          <a:solidFill>
            <a:srgbClr val="F4F7FB"/>
          </a:solidFill>
          <a:ln w="9525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1" name="Oval 17410"/>
          <p:cNvSpPr/>
          <p:nvPr/>
        </p:nvSpPr>
        <p:spPr>
          <a:xfrm>
            <a:off x="402336" y="1010412"/>
            <a:ext cx="105156" cy="10515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566928" y="914400"/>
            <a:ext cx="4407408" cy="186537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150" b="1" i="0">
                <a:solidFill>
                  <a:srgbClr val="1F497D"/>
                </a:solidFill>
                <a:latin typeface="Arial"/>
              </a:rPr>
              <a:t>Technologies to be used (e.g. programming languages, frameworks, hardware)</a:t>
            </a:r>
          </a:p>
          <a:p>
            <a:pPr marL="146304" indent="-146304">
              <a:spcAft>
                <a:spcPts val="216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>
                <a:solidFill>
                  <a:srgbClr val="1A1A1A"/>
                </a:solidFill>
                <a:latin typeface="Arial"/>
              </a:rPr>
              <a:t>Manifest V3 Chrome extension</a:t>
            </a:r>
            <a:r>
              <a:rPr sz="1050" b="0" i="0">
                <a:solidFill>
                  <a:srgbClr val="1A1A1A"/>
                </a:solidFill>
                <a:latin typeface="Arial"/>
              </a:rPr>
              <a:t>, vanilla JavaScript, no build step.</a:t>
            </a:r>
          </a:p>
          <a:p>
            <a:pPr marL="146304" indent="-146304">
              <a:spcAft>
                <a:spcPts val="216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>
                <a:solidFill>
                  <a:srgbClr val="1A1A1A"/>
                </a:solidFill>
                <a:latin typeface="Arial"/>
              </a:rPr>
              <a:t>Model is pluggable</a:t>
            </a:r>
            <a:r>
              <a:rPr sz="1050" b="0" i="0">
                <a:solidFill>
                  <a:srgbClr val="1A1A1A"/>
                </a:solidFill>
                <a:latin typeface="Arial"/>
              </a:rPr>
              <a:t> — Gemini free tier, Anthropic, or a local Ollama model with no internet.</a:t>
            </a:r>
          </a:p>
          <a:p>
            <a:pPr marL="146304" indent="-146304">
              <a:spcAft>
                <a:spcPts val="216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>
                <a:solidFill>
                  <a:srgbClr val="1A1A1A"/>
                </a:solidFill>
                <a:latin typeface="Arial"/>
              </a:rPr>
              <a:t>DOM + ARIA</a:t>
            </a:r>
            <a:r>
              <a:rPr sz="1050" b="0" i="0">
                <a:solidFill>
                  <a:srgbClr val="1A1A1A"/>
                </a:solidFill>
                <a:latin typeface="Arial"/>
              </a:rPr>
              <a:t>, not Chrome's accessibility tree — that needs the debugger permission and breaks on old government markup.</a:t>
            </a:r>
          </a:p>
          <a:p>
            <a:pPr marL="146304" indent="-146304">
              <a:spcAft>
                <a:spcPts val="216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>
                <a:solidFill>
                  <a:srgbClr val="1A1A1A"/>
                </a:solidFill>
                <a:latin typeface="Arial"/>
              </a:rPr>
              <a:t>Vision grounding (GUI-Actor, MIT)</a:t>
            </a:r>
            <a:r>
              <a:rPr sz="1050" b="0" i="0">
                <a:solidFill>
                  <a:srgbClr val="1A1A1A"/>
                </a:solidFill>
                <a:latin typeface="Arial"/>
              </a:rPr>
              <a:t> is the documented fallback.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56032" y="2926080"/>
            <a:ext cx="4846320" cy="2487168"/>
          </a:xfrm>
          <a:prstGeom prst="roundRect">
            <a:avLst>
              <a:gd name="adj" fmla="val 4500"/>
            </a:avLst>
          </a:prstGeom>
          <a:solidFill>
            <a:srgbClr val="F4F7FB"/>
          </a:solidFill>
          <a:ln w="9525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4" name="Oval 17413"/>
          <p:cNvSpPr/>
          <p:nvPr/>
        </p:nvSpPr>
        <p:spPr>
          <a:xfrm>
            <a:off x="402336" y="3095244"/>
            <a:ext cx="105156" cy="10515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566928" y="2999232"/>
            <a:ext cx="4407408" cy="234086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150" b="1" i="0">
                <a:solidFill>
                  <a:srgbClr val="1F497D"/>
                </a:solidFill>
                <a:latin typeface="Arial"/>
              </a:rPr>
              <a:t>Methodology and process for implementation (Flow Charts/Images/ working prototype)</a:t>
            </a:r>
          </a:p>
          <a:p>
            <a:pPr>
              <a:spcAft>
                <a:spcPts val="500"/>
              </a:spcAft>
              <a:buNone/>
            </a:pPr>
            <a:r>
              <a:rPr sz="950" b="0" i="0">
                <a:solidFill>
                  <a:srgbClr val="1B3A5C"/>
                </a:solidFill>
                <a:latin typeface="Courier New"/>
              </a:rPr>
              <a:t>page → enumerate interactive elements + ARIA names → compact text list → model returns {id, confidence} → on-device grounding score → colour band → draw dot → human clicks → wait for the DOM to settle → next step</a:t>
            </a:r>
          </a:p>
          <a:p>
            <a:pPr marL="146304" indent="-146304"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>
                <a:solidFill>
                  <a:srgbClr val="1A1A1A"/>
                </a:solidFill>
                <a:latin typeface="Arial"/>
              </a:rPr>
              <a:t>Green needs 0.80 model </a:t>
            </a:r>
            <a:r>
              <a:rPr sz="1050" b="0" i="0">
                <a:solidFill>
                  <a:srgbClr val="1A1A1A"/>
                </a:solidFill>
                <a:latin typeface="Arial"/>
              </a:rPr>
              <a:t>and 0.75 page evidence — two numbers, not one.</a:t>
            </a:r>
          </a:p>
          <a:p>
            <a:pPr marL="146304" indent="-146304"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>
                <a:solidFill>
                  <a:srgbClr val="1A1A1A"/>
                </a:solidFill>
                <a:latin typeface="Arial"/>
              </a:rPr>
              <a:t>We display the weaker of the two, never the average</a:t>
            </a:r>
            <a:r>
              <a:rPr sz="1050" b="0" i="0">
                <a:solidFill>
                  <a:srgbClr val="1A1A1A"/>
                </a:solidFill>
                <a:latin typeface="Arial"/>
              </a:rPr>
              <a:t> — so the number can never contradict the colour.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56032" y="5522976"/>
            <a:ext cx="4846320" cy="1170432"/>
          </a:xfrm>
          <a:prstGeom prst="roundRect">
            <a:avLst>
              <a:gd name="adj" fmla="val 4500"/>
            </a:avLst>
          </a:prstGeom>
          <a:solidFill>
            <a:srgbClr val="ECF6EE"/>
          </a:solidFill>
          <a:ln w="9525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7" name="Oval 17416"/>
          <p:cNvSpPr/>
          <p:nvPr/>
        </p:nvSpPr>
        <p:spPr>
          <a:xfrm>
            <a:off x="402336" y="5692140"/>
            <a:ext cx="105156" cy="105156"/>
          </a:xfrm>
          <a:prstGeom prst="ellipse">
            <a:avLst/>
          </a:prstGeom>
          <a:solidFill>
            <a:srgbClr val="1E8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566928" y="5596128"/>
            <a:ext cx="4407408" cy="102412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sz="1150" b="1" i="0">
                <a:solidFill>
                  <a:srgbClr val="1F497D"/>
                </a:solidFill>
                <a:latin typeface="Arial"/>
              </a:rPr>
              <a:t>Product status</a:t>
            </a:r>
          </a:p>
          <a:p>
            <a:pPr marL="146304" indent="-146304">
              <a:spcAft>
                <a:spcPts val="200"/>
              </a:spcAft>
              <a:buClr>
                <a:srgbClr val="1E8E4A"/>
              </a:buClr>
              <a:buFont typeface="Arial"/>
              <a:buChar char="•"/>
            </a:pPr>
            <a:r>
              <a:rPr sz="1000" b="1" i="0">
                <a:solidFill>
                  <a:srgbClr val="1A1A1A"/>
                </a:solidFill>
                <a:latin typeface="Arial"/>
              </a:rPr>
              <a:t>Working prototype, verified end-to-end in a browser: </a:t>
            </a:r>
            <a:r>
              <a:rPr sz="1000" b="0" i="0">
                <a:solidFill>
                  <a:srgbClr val="1A1A1A"/>
                </a:solidFill>
                <a:latin typeface="Arial"/>
              </a:rPr>
              <a:t>live grounding, colour bands, contingent fading, on-page ask bar, screen share with a real pause, offline mode. Vision fallback and the live-model green dot are next.</a:t>
            </a:r>
          </a:p>
        </p:txBody>
      </p:sp>
      <p:pic>
        <p:nvPicPr>
          <p:cNvPr id="17419" name="Picture 17418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841248"/>
            <a:ext cx="6519672" cy="4696898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5413248" y="5574722"/>
            <a:ext cx="6519672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buNone/>
            </a:pPr>
            <a:r>
              <a:rPr sz="900" b="0" i="1">
                <a:solidFill>
                  <a:srgbClr val="595959"/>
                </a:solidFill>
                <a:latin typeface="Arial"/>
              </a:rPr>
              <a:t>Read → Decide → Guide, and the boundary nothing crosses: only control names leave the 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133856" y="-91440"/>
            <a:ext cx="9491472" cy="86868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6304" y="82296"/>
            <a:ext cx="914400" cy="43891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Code Blooded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8480" y="64008"/>
            <a:ext cx="1225296" cy="621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Rounded Rectangle 17409"/>
          <p:cNvSpPr/>
          <p:nvPr/>
        </p:nvSpPr>
        <p:spPr>
          <a:xfrm>
            <a:off x="256032" y="841248"/>
            <a:ext cx="6035040" cy="1517904"/>
          </a:xfrm>
          <a:prstGeom prst="roundRect">
            <a:avLst>
              <a:gd name="adj" fmla="val 4500"/>
            </a:avLst>
          </a:prstGeom>
          <a:solidFill>
            <a:srgbClr val="F4F7FB"/>
          </a:solidFill>
          <a:ln w="9525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1" name="Oval 17410"/>
          <p:cNvSpPr/>
          <p:nvPr/>
        </p:nvSpPr>
        <p:spPr>
          <a:xfrm>
            <a:off x="402336" y="1010412"/>
            <a:ext cx="105156" cy="10515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566928" y="914400"/>
            <a:ext cx="5596127" cy="13716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250" b="1" i="0">
                <a:solidFill>
                  <a:srgbClr val="1F497D"/>
                </a:solidFill>
                <a:latin typeface="Arial"/>
              </a:rPr>
              <a:t>Analysis of the feasibility of the idea</a:t>
            </a:r>
          </a:p>
          <a:p>
            <a:pPr marL="146304" indent="-146304">
              <a:spcAft>
                <a:spcPts val="216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>
                <a:solidFill>
                  <a:srgbClr val="1A1A1A"/>
                </a:solidFill>
                <a:latin typeface="Arial"/>
              </a:rPr>
              <a:t>Technical: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built and running today; DOM + ARIA works on portals we do not control.</a:t>
            </a:r>
          </a:p>
          <a:p>
            <a:pPr marL="146304" indent="-146304">
              <a:spcAft>
                <a:spcPts val="216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>
                <a:solidFill>
                  <a:srgbClr val="1A1A1A"/>
                </a:solidFill>
                <a:latin typeface="Arial"/>
              </a:rPr>
              <a:t>Financial: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a compact text request per step on a free-tier model; a local model costs zero. Cloud for the next build is already covered — $1,000 in Microsoft Azure credits through Red Bull Basement 2026.</a:t>
            </a:r>
          </a:p>
          <a:p>
            <a:pPr marL="146304" indent="-146304">
              <a:spcAft>
                <a:spcPts val="216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>
                <a:solidFill>
                  <a:srgbClr val="1A1A1A"/>
                </a:solidFill>
                <a:latin typeface="Arial"/>
              </a:rPr>
              <a:t>Operational: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installs as an extension. No ministry integration, no portal changes.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56032" y="2432304"/>
            <a:ext cx="6035040" cy="1481328"/>
          </a:xfrm>
          <a:prstGeom prst="roundRect">
            <a:avLst>
              <a:gd name="adj" fmla="val 4500"/>
            </a:avLst>
          </a:prstGeom>
          <a:solidFill>
            <a:srgbClr val="F4F7FB"/>
          </a:solidFill>
          <a:ln w="9525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4" name="Oval 17413"/>
          <p:cNvSpPr/>
          <p:nvPr/>
        </p:nvSpPr>
        <p:spPr>
          <a:xfrm>
            <a:off x="402336" y="2601468"/>
            <a:ext cx="105156" cy="10515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566928" y="2505456"/>
            <a:ext cx="5596127" cy="133502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250" b="1" i="0">
                <a:solidFill>
                  <a:srgbClr val="1F497D"/>
                </a:solidFill>
                <a:latin typeface="Arial"/>
              </a:rPr>
              <a:t>Potential challenges and risks</a:t>
            </a:r>
          </a:p>
          <a:p>
            <a:pPr marL="146304" indent="-146304">
              <a:spcAft>
                <a:spcPts val="216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>
                <a:solidFill>
                  <a:srgbClr val="1A1A1A"/>
                </a:solidFill>
                <a:latin typeface="Arial"/>
              </a:rPr>
              <a:t>Unlabelled / icon-only controls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— our weakest case.</a:t>
            </a:r>
          </a:p>
          <a:p>
            <a:pPr marL="146304" indent="-146304">
              <a:spcAft>
                <a:spcPts val="216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>
                <a:solidFill>
                  <a:srgbClr val="1A1A1A"/>
                </a:solidFill>
                <a:latin typeface="Arial"/>
              </a:rPr>
              <a:t>The model picks the wrong element.</a:t>
            </a:r>
          </a:p>
          <a:p>
            <a:pPr marL="146304" indent="-146304">
              <a:spcAft>
                <a:spcPts val="216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>
                <a:solidFill>
                  <a:srgbClr val="1A1A1A"/>
                </a:solidFill>
                <a:latin typeface="Arial"/>
              </a:rPr>
              <a:t>Trust: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users may over-rely on a confident-looking dot.</a:t>
            </a:r>
          </a:p>
          <a:p>
            <a:pPr marL="146304" indent="-146304">
              <a:spcAft>
                <a:spcPts val="216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>
                <a:solidFill>
                  <a:srgbClr val="1A1A1A"/>
                </a:solidFill>
                <a:latin typeface="Arial"/>
              </a:rPr>
              <a:t>Market: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Copilot Vision already points at things.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56032" y="3986784"/>
            <a:ext cx="6035040" cy="1481328"/>
          </a:xfrm>
          <a:prstGeom prst="roundRect">
            <a:avLst>
              <a:gd name="adj" fmla="val 4500"/>
            </a:avLst>
          </a:prstGeom>
          <a:solidFill>
            <a:srgbClr val="F4F7FB"/>
          </a:solidFill>
          <a:ln w="9525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7" name="Oval 17416"/>
          <p:cNvSpPr/>
          <p:nvPr/>
        </p:nvSpPr>
        <p:spPr>
          <a:xfrm>
            <a:off x="402336" y="4155948"/>
            <a:ext cx="105156" cy="10515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566928" y="4059936"/>
            <a:ext cx="5596127" cy="133502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250" b="1" i="0">
                <a:solidFill>
                  <a:srgbClr val="1F497D"/>
                </a:solidFill>
                <a:latin typeface="Arial"/>
              </a:rPr>
              <a:t>Strategies for overcoming these challenges</a:t>
            </a:r>
          </a:p>
          <a:p>
            <a:pPr marL="146304" indent="-146304">
              <a:spcAft>
                <a:spcPts val="216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>
                <a:solidFill>
                  <a:srgbClr val="1A1A1A"/>
                </a:solidFill>
                <a:latin typeface="Arial"/>
              </a:rPr>
              <a:t>Unlabelled controls drop the page score → the dot goes red</a:t>
            </a:r>
            <a:r>
              <a:rPr sz="1100" b="0" i="0">
                <a:solidFill>
                  <a:srgbClr val="1A1A1A"/>
                </a:solidFill>
                <a:latin typeface="Arial"/>
              </a:rPr>
              <a:t>, never a silent guess; vision grounding is the fallback.</a:t>
            </a:r>
          </a:p>
          <a:p>
            <a:pPr marL="146304" indent="-146304">
              <a:spcAft>
                <a:spcPts val="216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>
                <a:solidFill>
                  <a:srgbClr val="1A1A1A"/>
                </a:solidFill>
                <a:latin typeface="Arial"/>
              </a:rPr>
              <a:t>A wrong pick costs a glance, not a transaction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— the human always clicks.</a:t>
            </a:r>
          </a:p>
          <a:p>
            <a:pPr marL="146304" indent="-146304">
              <a:spcAft>
                <a:spcPts val="216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>
                <a:solidFill>
                  <a:srgbClr val="1A1A1A"/>
                </a:solidFill>
                <a:latin typeface="Arial"/>
              </a:rPr>
              <a:t>Over-reliance is answered by the fade itself.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256032" y="5541264"/>
            <a:ext cx="6035040" cy="1152144"/>
          </a:xfrm>
          <a:prstGeom prst="roundRect">
            <a:avLst>
              <a:gd name="adj" fmla="val 4500"/>
            </a:avLst>
          </a:prstGeom>
          <a:solidFill>
            <a:srgbClr val="FDF0F0"/>
          </a:solidFill>
          <a:ln w="9525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0" name="Oval 17419"/>
          <p:cNvSpPr/>
          <p:nvPr/>
        </p:nvSpPr>
        <p:spPr>
          <a:xfrm>
            <a:off x="402336" y="5710427"/>
            <a:ext cx="105156" cy="105156"/>
          </a:xfrm>
          <a:prstGeom prst="ellipse">
            <a:avLst/>
          </a:prstGeom>
          <a:solidFill>
            <a:srgbClr val="C02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TextBox 17420"/>
          <p:cNvSpPr txBox="1"/>
          <p:nvPr/>
        </p:nvSpPr>
        <p:spPr>
          <a:xfrm>
            <a:off x="566928" y="5614416"/>
            <a:ext cx="5596127" cy="10058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sz="1200" b="1" i="0">
                <a:solidFill>
                  <a:srgbClr val="1F497D"/>
                </a:solidFill>
                <a:latin typeface="Arial"/>
              </a:rPr>
              <a:t>The measured run</a:t>
            </a:r>
          </a:p>
          <a:p>
            <a:pPr marL="146304" indent="-146304">
              <a:spcAft>
                <a:spcPts val="200"/>
              </a:spcAft>
              <a:buClr>
                <a:srgbClr val="C02727"/>
              </a:buClr>
              <a:buFont typeface="Arial"/>
              <a:buChar char="•"/>
            </a:pPr>
            <a:r>
              <a:rPr sz="1050" b="1" i="0">
                <a:solidFill>
                  <a:srgbClr val="1A1A1A"/>
                </a:solidFill>
                <a:latin typeface="Arial"/>
              </a:rPr>
              <a:t>“i want to take my money out” on our practice portal: </a:t>
            </a:r>
            <a:r>
              <a:rPr sz="1050" b="0" i="0">
                <a:solidFill>
                  <a:srgbClr val="1A1A1A"/>
                </a:solidFill>
                <a:latin typeface="Arial"/>
              </a:rPr>
              <a:t>64% → 57% → 51% red → 75%.</a:t>
            </a:r>
          </a:p>
          <a:p>
            <a:pPr marL="146304" indent="-146304">
              <a:spcAft>
                <a:spcPts val="200"/>
              </a:spcAft>
              <a:buClr>
                <a:srgbClr val="C02727"/>
              </a:buClr>
              <a:buFont typeface="Arial"/>
              <a:buChar char="•"/>
            </a:pPr>
            <a:r>
              <a:rPr sz="1050" b="1" i="0">
                <a:solidFill>
                  <a:srgbClr val="1A1A1A"/>
                </a:solidFill>
                <a:latin typeface="Arial"/>
              </a:rPr>
              <a:t>That run used the offline matcher with no model, </a:t>
            </a:r>
            <a:r>
              <a:rPr sz="1050" b="0" i="0">
                <a:solidFill>
                  <a:srgbClr val="1A1A1A"/>
                </a:solidFill>
                <a:latin typeface="Arial"/>
              </a:rPr>
              <a:t>which is capped below green by design. Accuracy is unmeasured.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6419088" y="3979354"/>
            <a:ext cx="5513832" cy="25603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buNone/>
            </a:pPr>
            <a:r>
              <a:rPr sz="900" b="0" i="1">
                <a:solidFill>
                  <a:srgbClr val="595959"/>
                </a:solidFill>
                <a:latin typeface="Arial"/>
              </a:rPr>
              <a:t>The near-tie that goes red at 51%, and the card that says why.</a:t>
            </a:r>
          </a:p>
        </p:txBody>
      </p:sp>
      <p:pic>
        <p:nvPicPr>
          <p:cNvPr id="17424" name="Picture 17423" descr="explainer-red-c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0044" y="4261104"/>
            <a:ext cx="3931920" cy="2211705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6419088" y="6500241"/>
            <a:ext cx="551383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buNone/>
            </a:pPr>
            <a:r>
              <a:rPr sz="850" b="0" i="1">
                <a:solidFill>
                  <a:srgbClr val="595959"/>
                </a:solidFill>
                <a:latin typeface="Arial"/>
              </a:rPr>
              <a:t>Both numbers, side by side: page 0.815, words 0.763, margin 0.052.</a:t>
            </a:r>
          </a:p>
        </p:txBody>
      </p:sp>
      <p:pic>
        <p:nvPicPr>
          <p:cNvPr id="2" name="VIDEO-02-red-verify">
            <a:hlinkClick r:id="" action="ppaction://media"/>
            <a:extLst>
              <a:ext uri="{FF2B5EF4-FFF2-40B4-BE49-F238E27FC236}">
                <a16:creationId xmlns:a16="http://schemas.microsoft.com/office/drawing/2014/main" id="{00988132-7598-936A-91D1-21DC0F0D705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419089" y="841248"/>
            <a:ext cx="5503335" cy="310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6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133856" y="-91440"/>
            <a:ext cx="9491472" cy="86868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6304" y="82296"/>
            <a:ext cx="914400" cy="43891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Code Blooded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8480" y="64008"/>
            <a:ext cx="1225296" cy="621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Rounded Rectangle 17409"/>
          <p:cNvSpPr/>
          <p:nvPr/>
        </p:nvSpPr>
        <p:spPr>
          <a:xfrm>
            <a:off x="256032" y="841248"/>
            <a:ext cx="5897880" cy="1719072"/>
          </a:xfrm>
          <a:prstGeom prst="roundRect">
            <a:avLst>
              <a:gd name="adj" fmla="val 4500"/>
            </a:avLst>
          </a:prstGeom>
          <a:solidFill>
            <a:srgbClr val="F4F7FB"/>
          </a:solidFill>
          <a:ln w="9525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1" name="Oval 17410"/>
          <p:cNvSpPr/>
          <p:nvPr/>
        </p:nvSpPr>
        <p:spPr>
          <a:xfrm>
            <a:off x="402336" y="1010412"/>
            <a:ext cx="105156" cy="10515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566928" y="914400"/>
            <a:ext cx="5458968" cy="15727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250" b="1" i="0">
                <a:solidFill>
                  <a:srgbClr val="1F497D"/>
                </a:solidFill>
                <a:latin typeface="Arial"/>
              </a:rPr>
              <a:t>Potential impact on the target audience</a:t>
            </a:r>
          </a:p>
          <a:p>
            <a:pPr marL="146304" indent="-146304">
              <a:spcAft>
                <a:spcPts val="216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>
                <a:solidFill>
                  <a:srgbClr val="1A1A1A"/>
                </a:solidFill>
                <a:latin typeface="Arial"/>
              </a:rPr>
              <a:t>Positive — improvement: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the citizen completes the task alone instead of paying someone to click.</a:t>
            </a:r>
          </a:p>
          <a:p>
            <a:pPr marL="146304" indent="-146304">
              <a:spcAft>
                <a:spcPts val="216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>
                <a:solidFill>
                  <a:srgbClr val="1A1A1A"/>
                </a:solidFill>
                <a:latin typeface="Arial"/>
              </a:rPr>
              <a:t>New opportunities: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a teacher or NGO worker walks a task once and it becomes a pack others reuse.</a:t>
            </a:r>
          </a:p>
          <a:p>
            <a:pPr marL="146304" indent="-146304">
              <a:spcAft>
                <a:spcPts val="216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>
                <a:solidFill>
                  <a:srgbClr val="1A1A1A"/>
                </a:solidFill>
                <a:latin typeface="Arial"/>
              </a:rPr>
              <a:t>Negative — technology adoption: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it needs a browser and a first install.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56032" y="2633472"/>
            <a:ext cx="5897880" cy="1874519"/>
          </a:xfrm>
          <a:prstGeom prst="roundRect">
            <a:avLst>
              <a:gd name="adj" fmla="val 4500"/>
            </a:avLst>
          </a:prstGeom>
          <a:solidFill>
            <a:srgbClr val="F4F7FB"/>
          </a:solidFill>
          <a:ln w="9525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4" name="Oval 17413"/>
          <p:cNvSpPr/>
          <p:nvPr/>
        </p:nvSpPr>
        <p:spPr>
          <a:xfrm>
            <a:off x="402336" y="2802636"/>
            <a:ext cx="105156" cy="10515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566928" y="2706624"/>
            <a:ext cx="5458968" cy="172821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250" b="1" i="0">
                <a:solidFill>
                  <a:srgbClr val="1F497D"/>
                </a:solidFill>
                <a:latin typeface="Arial"/>
              </a:rPr>
              <a:t>Benefits of the solution (social, economic, environmental, etc.)</a:t>
            </a:r>
          </a:p>
          <a:p>
            <a:pPr marL="146304" indent="-146304">
              <a:spcAft>
                <a:spcPts val="216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>
                <a:solidFill>
                  <a:srgbClr val="1A1A1A"/>
                </a:solidFill>
                <a:latin typeface="Arial"/>
              </a:rPr>
              <a:t>Social — improved access, empowerment: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independence on services people are already entitled to.</a:t>
            </a:r>
          </a:p>
          <a:p>
            <a:pPr marL="146304" indent="-146304">
              <a:spcAft>
                <a:spcPts val="216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>
                <a:solidFill>
                  <a:srgbClr val="1A1A1A"/>
                </a:solidFill>
                <a:latin typeface="Arial"/>
              </a:rPr>
              <a:t>Economic — cost: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avoids the per-visit intermediary and travel documented in the CSC studies.</a:t>
            </a:r>
          </a:p>
          <a:p>
            <a:pPr marL="146304" indent="-146304">
              <a:spcAft>
                <a:spcPts val="216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>
                <a:solidFill>
                  <a:srgbClr val="1A1A1A"/>
                </a:solidFill>
                <a:latin typeface="Arial"/>
              </a:rPr>
              <a:t>Educational: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guidance fades on demonstrated success — active learning +0.47 SD, spaced retrieval g = 0.74. Both validate the mechanism, not our product.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56032" y="4590288"/>
            <a:ext cx="1892807" cy="2084831"/>
          </a:xfrm>
          <a:prstGeom prst="roundRect">
            <a:avLst>
              <a:gd name="adj" fmla="val 4500"/>
            </a:avLst>
          </a:prstGeom>
          <a:solidFill>
            <a:srgbClr val="EFF4FA"/>
          </a:solidFill>
          <a:ln w="9525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365760" y="4645152"/>
            <a:ext cx="1673351" cy="19751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buNone/>
            </a:pPr>
            <a:r>
              <a:rPr sz="2600" b="1" i="0">
                <a:solidFill>
                  <a:srgbClr val="0070C0"/>
                </a:solidFill>
                <a:latin typeface="Arial"/>
              </a:rPr>
              <a:t>21%</a:t>
            </a:r>
          </a:p>
          <a:p>
            <a:pPr algn="ctr">
              <a:buNone/>
            </a:pPr>
            <a:r>
              <a:rPr sz="950" b="0" i="0">
                <a:solidFill>
                  <a:srgbClr val="1A1A1A"/>
                </a:solidFill>
                <a:latin typeface="Arial"/>
              </a:rPr>
              <a:t>of rural Indians aged 15–24 can search, email and bank online</a:t>
            </a:r>
          </a:p>
          <a:p>
            <a:pPr algn="ctr">
              <a:spcBef>
                <a:spcPts val="300"/>
              </a:spcBef>
              <a:buNone/>
            </a:pPr>
            <a:r>
              <a:rPr sz="800" b="0" i="1">
                <a:solidFill>
                  <a:srgbClr val="595959"/>
                </a:solidFill>
                <a:latin typeface="Arial"/>
              </a:rPr>
              <a:t>MoSPI CAMS 2022–23, combined ICT-skill measure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2258568" y="4590288"/>
            <a:ext cx="1892807" cy="2084831"/>
          </a:xfrm>
          <a:prstGeom prst="roundRect">
            <a:avLst>
              <a:gd name="adj" fmla="val 4500"/>
            </a:avLst>
          </a:prstGeom>
          <a:solidFill>
            <a:srgbClr val="EFF4FA"/>
          </a:solidFill>
          <a:ln w="9525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9" name="TextBox 17418"/>
          <p:cNvSpPr txBox="1"/>
          <p:nvPr/>
        </p:nvSpPr>
        <p:spPr>
          <a:xfrm>
            <a:off x="2368296" y="4645152"/>
            <a:ext cx="1673351" cy="19751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buNone/>
            </a:pPr>
            <a:r>
              <a:rPr sz="2600" b="1" i="0">
                <a:solidFill>
                  <a:srgbClr val="0070C0"/>
                </a:solidFill>
                <a:latin typeface="Arial"/>
              </a:rPr>
              <a:t>11.4%</a:t>
            </a:r>
          </a:p>
          <a:p>
            <a:pPr algn="ctr">
              <a:buNone/>
            </a:pPr>
            <a:r>
              <a:rPr sz="950" b="0" i="0">
                <a:solidFill>
                  <a:srgbClr val="1A1A1A"/>
                </a:solidFill>
                <a:latin typeface="Arial"/>
              </a:rPr>
              <a:t>of connected households use the internet for government services</a:t>
            </a:r>
          </a:p>
          <a:p>
            <a:pPr algn="ctr">
              <a:spcBef>
                <a:spcPts val="300"/>
              </a:spcBef>
              <a:buNone/>
            </a:pPr>
            <a:r>
              <a:rPr sz="800" b="0" i="1">
                <a:solidFill>
                  <a:srgbClr val="595959"/>
                </a:solidFill>
                <a:latin typeface="Arial"/>
              </a:rPr>
              <a:t>NCAER, June 2026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261104" y="4590288"/>
            <a:ext cx="1892807" cy="2084831"/>
          </a:xfrm>
          <a:prstGeom prst="roundRect">
            <a:avLst>
              <a:gd name="adj" fmla="val 4500"/>
            </a:avLst>
          </a:prstGeom>
          <a:solidFill>
            <a:srgbClr val="EFF4FA"/>
          </a:solidFill>
          <a:ln w="9525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1" name="TextBox 17420"/>
          <p:cNvSpPr txBox="1"/>
          <p:nvPr/>
        </p:nvSpPr>
        <p:spPr>
          <a:xfrm>
            <a:off x="4370832" y="4645152"/>
            <a:ext cx="1673351" cy="19751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buNone/>
            </a:pPr>
            <a:r>
              <a:rPr sz="2600" b="1" i="0">
                <a:solidFill>
                  <a:srgbClr val="0070C0"/>
                </a:solidFill>
                <a:latin typeface="Arial"/>
              </a:rPr>
              <a:t>1 in 5</a:t>
            </a:r>
          </a:p>
          <a:p>
            <a:pPr algn="ctr">
              <a:buNone/>
            </a:pPr>
            <a:r>
              <a:rPr sz="950" b="0" i="0">
                <a:solidFill>
                  <a:srgbClr val="1A1A1A"/>
                </a:solidFill>
                <a:latin typeface="Arial"/>
              </a:rPr>
              <a:t>households using digital services depends on help from outside</a:t>
            </a:r>
          </a:p>
          <a:p>
            <a:pPr algn="ctr">
              <a:spcBef>
                <a:spcPts val="300"/>
              </a:spcBef>
              <a:buNone/>
            </a:pPr>
            <a:r>
              <a:rPr sz="800" b="0" i="1">
                <a:solidFill>
                  <a:srgbClr val="595959"/>
                </a:solidFill>
                <a:latin typeface="Arial"/>
              </a:rPr>
              <a:t>NCAER, June 2026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6281928" y="4056507"/>
            <a:ext cx="5650992" cy="25603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buNone/>
            </a:pPr>
            <a:r>
              <a:rPr sz="900" b="0" i="1">
                <a:solidFill>
                  <a:srgbClr val="595959"/>
                </a:solidFill>
                <a:latin typeface="Arial"/>
              </a:rPr>
              <a:t>The same task three times until the dot is gone — the education claim, on video.</a:t>
            </a:r>
          </a:p>
        </p:txBody>
      </p:sp>
      <p:pic>
        <p:nvPicPr>
          <p:cNvPr id="17424" name="Picture 17423" descr="practice-port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7183" y="4352544"/>
            <a:ext cx="3840480" cy="2160270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6281928" y="6540246"/>
            <a:ext cx="565099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buNone/>
            </a:pPr>
            <a:r>
              <a:rPr sz="850" b="0" i="1">
                <a:solidFill>
                  <a:srgbClr val="595959"/>
                </a:solidFill>
                <a:latin typeface="Arial"/>
              </a:rPr>
              <a:t>Vidya Setu — the practice sandbox, shaped like a government portal, safe to fail in.</a:t>
            </a:r>
          </a:p>
        </p:txBody>
      </p:sp>
      <p:pic>
        <p:nvPicPr>
          <p:cNvPr id="2" name="VIDEO-04-fade">
            <a:hlinkClick r:id="" action="ppaction://media"/>
            <a:extLst>
              <a:ext uri="{FF2B5EF4-FFF2-40B4-BE49-F238E27FC236}">
                <a16:creationId xmlns:a16="http://schemas.microsoft.com/office/drawing/2014/main" id="{8B92FAB8-E792-7AF9-E89D-2C32CB15761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281928" y="841248"/>
            <a:ext cx="5640236" cy="317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6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133856" y="-91440"/>
            <a:ext cx="9491472" cy="86868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6304" y="82296"/>
            <a:ext cx="914400" cy="43891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Code Blooded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8480" y="64008"/>
            <a:ext cx="1225296" cy="621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TextBox 17409"/>
          <p:cNvSpPr txBox="1"/>
          <p:nvPr/>
        </p:nvSpPr>
        <p:spPr>
          <a:xfrm>
            <a:off x="256032" y="822960"/>
            <a:ext cx="11676888" cy="34747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1F497D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256032" y="1243584"/>
            <a:ext cx="5715000" cy="2615184"/>
          </a:xfrm>
          <a:prstGeom prst="roundRect">
            <a:avLst>
              <a:gd name="adj" fmla="val 4500"/>
            </a:avLst>
          </a:prstGeom>
          <a:solidFill>
            <a:srgbClr val="F4F7FB"/>
          </a:solidFill>
          <a:ln w="9525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420624" y="1353312"/>
            <a:ext cx="5385816" cy="239572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marL="146304" indent="-146304">
              <a:spcAft>
                <a:spcPts val="700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>
                <a:solidFill>
                  <a:srgbClr val="1A1A1A"/>
                </a:solidFill>
                <a:latin typeface="Arial"/>
              </a:rPr>
              <a:t>MoSPI</a:t>
            </a:r>
            <a:r>
              <a:rPr sz="1150" b="0" i="0">
                <a:solidFill>
                  <a:srgbClr val="1A1A1A"/>
                </a:solidFill>
                <a:latin typeface="Arial"/>
              </a:rPr>
              <a:t>, Comprehensive Annual Modular Survey 2022–23 — the 21% combined ICT-skill figure.</a:t>
            </a:r>
          </a:p>
          <a:p>
            <a:pPr marL="146304" indent="-146304">
              <a:spcAft>
                <a:spcPts val="700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>
                <a:solidFill>
                  <a:srgbClr val="1A1A1A"/>
                </a:solidFill>
                <a:latin typeface="Arial"/>
              </a:rPr>
              <a:t>NSS 78th Round (2020–21)</a:t>
            </a:r>
            <a:r>
              <a:rPr sz="1150" b="0" i="0">
                <a:solidFill>
                  <a:srgbClr val="1A1A1A"/>
                </a:solidFill>
                <a:latin typeface="Arial"/>
              </a:rPr>
              <a:t> — computer literacy 24.7% national, 18.1% rural.</a:t>
            </a:r>
          </a:p>
          <a:p>
            <a:pPr marL="146304" indent="-146304">
              <a:spcAft>
                <a:spcPts val="700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>
                <a:solidFill>
                  <a:srgbClr val="1A1A1A"/>
                </a:solidFill>
                <a:latin typeface="Arial"/>
              </a:rPr>
              <a:t>NCAER</a:t>
            </a:r>
            <a:r>
              <a:rPr sz="1150" b="0" i="0">
                <a:solidFill>
                  <a:srgbClr val="1A1A1A"/>
                </a:solidFill>
                <a:latin typeface="Arial"/>
              </a:rPr>
              <a:t>, The Evolving Landscape of Digital Inclusion in India, June 2026.</a:t>
            </a:r>
          </a:p>
          <a:p>
            <a:pPr marL="146304" indent="-146304">
              <a:spcAft>
                <a:spcPts val="700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>
                <a:solidFill>
                  <a:srgbClr val="1A1A1A"/>
                </a:solidFill>
                <a:latin typeface="Arial"/>
              </a:rPr>
              <a:t>PIB / MeitY</a:t>
            </a:r>
            <a:r>
              <a:rPr sz="1150" b="0" i="0">
                <a:solidFill>
                  <a:srgbClr val="1A1A1A"/>
                </a:solidFill>
                <a:latin typeface="Arial"/>
              </a:rPr>
              <a:t> — CSC network: 48.54 crore transactions, 5,01,731 centres, FY 2025–26.</a:t>
            </a:r>
          </a:p>
          <a:p>
            <a:pPr marL="146304" indent="-146304">
              <a:spcAft>
                <a:spcPts val="700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>
                <a:solidFill>
                  <a:srgbClr val="1A1A1A"/>
                </a:solidFill>
                <a:latin typeface="Arial"/>
              </a:rPr>
              <a:t>IAMAI–Kantar</a:t>
            </a:r>
            <a:r>
              <a:rPr sz="1150" b="0" i="0">
                <a:solidFill>
                  <a:srgbClr val="1A1A1A"/>
                </a:solidFill>
                <a:latin typeface="Arial"/>
              </a:rPr>
              <a:t>, Internet in India 2024 · BHASHINI metrics dashboard.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217920" y="1243584"/>
            <a:ext cx="5715000" cy="2615184"/>
          </a:xfrm>
          <a:prstGeom prst="roundRect">
            <a:avLst>
              <a:gd name="adj" fmla="val 4500"/>
            </a:avLst>
          </a:prstGeom>
          <a:solidFill>
            <a:srgbClr val="F4F7FB"/>
          </a:solidFill>
          <a:ln w="9525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4" name="TextBox 17413"/>
          <p:cNvSpPr txBox="1"/>
          <p:nvPr/>
        </p:nvSpPr>
        <p:spPr>
          <a:xfrm>
            <a:off x="6382512" y="1353312"/>
            <a:ext cx="5385816" cy="239572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marL="146304" indent="-146304">
              <a:spcAft>
                <a:spcPts val="700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>
                <a:solidFill>
                  <a:srgbClr val="1A1A1A"/>
                </a:solidFill>
                <a:latin typeface="Arial"/>
              </a:rPr>
              <a:t>Freeman et al., PNAS 2014</a:t>
            </a:r>
            <a:r>
              <a:rPr sz="1150" b="0" i="0">
                <a:solidFill>
                  <a:srgbClr val="1A1A1A"/>
                </a:solidFill>
                <a:latin typeface="Arial"/>
              </a:rPr>
              <a:t> — active learning, +0.47 SD across 225 studies.</a:t>
            </a:r>
          </a:p>
          <a:p>
            <a:pPr marL="146304" indent="-146304">
              <a:spcAft>
                <a:spcPts val="700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>
                <a:solidFill>
                  <a:srgbClr val="1A1A1A"/>
                </a:solidFill>
                <a:latin typeface="Arial"/>
              </a:rPr>
              <a:t>Adesope et al. 2017</a:t>
            </a:r>
            <a:r>
              <a:rPr sz="1150" b="0" i="0">
                <a:solidFill>
                  <a:srgbClr val="1A1A1A"/>
                </a:solidFill>
                <a:latin typeface="Arial"/>
              </a:rPr>
              <a:t> (retrieval, g = 0.51) · </a:t>
            </a:r>
            <a:r>
              <a:rPr sz="1150" b="1" i="0">
                <a:solidFill>
                  <a:srgbClr val="1A1A1A"/>
                </a:solidFill>
                <a:latin typeface="Arial"/>
              </a:rPr>
              <a:t>Latimier et al. 2021</a:t>
            </a:r>
            <a:r>
              <a:rPr sz="1150" b="0" i="0">
                <a:solidFill>
                  <a:srgbClr val="1A1A1A"/>
                </a:solidFill>
                <a:latin typeface="Arial"/>
              </a:rPr>
              <a:t> (spacing, g = 0.74).</a:t>
            </a:r>
          </a:p>
          <a:p>
            <a:pPr marL="146304" indent="-146304">
              <a:spcAft>
                <a:spcPts val="700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>
                <a:solidFill>
                  <a:srgbClr val="1A1A1A"/>
                </a:solidFill>
                <a:latin typeface="Arial"/>
              </a:rPr>
              <a:t>Renkl et al.</a:t>
            </a:r>
            <a:r>
              <a:rPr sz="1150" b="0" i="0">
                <a:solidFill>
                  <a:srgbClr val="1A1A1A"/>
                </a:solidFill>
                <a:latin typeface="Arial"/>
              </a:rPr>
              <a:t> — guidance fading triggered by mastery evidence, not elapsed time.</a:t>
            </a:r>
          </a:p>
          <a:p>
            <a:pPr marL="146304" indent="-146304">
              <a:spcAft>
                <a:spcPts val="700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>
                <a:solidFill>
                  <a:srgbClr val="1A1A1A"/>
                </a:solidFill>
                <a:latin typeface="Arial"/>
              </a:rPr>
              <a:t>Microsoft Copilot Vision release notes</a:t>
            </a:r>
            <a:r>
              <a:rPr sz="1150" b="0" i="0">
                <a:solidFill>
                  <a:srgbClr val="1A1A1A"/>
                </a:solidFill>
                <a:latin typeface="Arial"/>
              </a:rPr>
              <a:t> — the closest shipped prior art.</a:t>
            </a:r>
          </a:p>
          <a:p>
            <a:pPr marL="146304" indent="-146304">
              <a:spcAft>
                <a:spcPts val="700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>
                <a:solidFill>
                  <a:srgbClr val="1A1A1A"/>
                </a:solidFill>
                <a:latin typeface="Arial"/>
              </a:rPr>
              <a:t>microsoft/GUI-Actor</a:t>
            </a:r>
            <a:r>
              <a:rPr sz="1150" b="0" i="0">
                <a:solidFill>
                  <a:srgbClr val="1A1A1A"/>
                </a:solidFill>
                <a:latin typeface="Arial"/>
              </a:rPr>
              <a:t> (MIT) — the vision-grounding fallback on our roadmap.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256032" y="3950208"/>
            <a:ext cx="11676888" cy="1097280"/>
          </a:xfrm>
          <a:prstGeom prst="roundRect">
            <a:avLst>
              <a:gd name="adj" fmla="val 4500"/>
            </a:avLst>
          </a:prstGeom>
          <a:solidFill>
            <a:srgbClr val="ECF6EE"/>
          </a:solidFill>
          <a:ln w="9525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6" name="Oval 17415"/>
          <p:cNvSpPr/>
          <p:nvPr/>
        </p:nvSpPr>
        <p:spPr>
          <a:xfrm>
            <a:off x="402336" y="4119372"/>
            <a:ext cx="105156" cy="105156"/>
          </a:xfrm>
          <a:prstGeom prst="ellipse">
            <a:avLst/>
          </a:prstGeom>
          <a:solidFill>
            <a:srgbClr val="1E8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566928" y="4023360"/>
            <a:ext cx="11237976" cy="95097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sz="1250" b="1" i="0">
                <a:solidFill>
                  <a:srgbClr val="1F497D"/>
                </a:solidFill>
                <a:latin typeface="Arial"/>
              </a:rPr>
              <a:t>What these sources do and do not say</a:t>
            </a:r>
          </a:p>
          <a:p>
            <a:pPr marL="146304" indent="-146304">
              <a:spcAft>
                <a:spcPts val="200"/>
              </a:spcAft>
              <a:buClr>
                <a:srgbClr val="1E8E4A"/>
              </a:buClr>
              <a:buFont typeface="Arial"/>
              <a:buChar char="•"/>
            </a:pPr>
            <a:r>
              <a:rPr sz="1100" b="1" i="0">
                <a:solidFill>
                  <a:srgbClr val="1A1A1A"/>
                </a:solidFill>
                <a:latin typeface="Arial"/>
              </a:rPr>
              <a:t>The two learning figures validate the mechanism, not our product.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We have not measured Disha's accuracy, and we do not quote one.</a:t>
            </a:r>
          </a:p>
          <a:p>
            <a:pPr marL="146304" indent="-146304">
              <a:spcAft>
                <a:spcPts val="200"/>
              </a:spcAft>
              <a:buClr>
                <a:srgbClr val="1E8E4A"/>
              </a:buClr>
              <a:buFont typeface="Arial"/>
              <a:buChar char="•"/>
            </a:pPr>
            <a:r>
              <a:rPr sz="1100" b="1" i="0">
                <a:solidFill>
                  <a:srgbClr val="1A1A1A"/>
                </a:solidFill>
                <a:latin typeface="Arial"/>
              </a:rPr>
              <a:t>48.54 crore is a count of transactions, not of citizens;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21% is a combined ICT-skill measure, not “cannot use a government website”.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256032" y="5157216"/>
            <a:ext cx="11676888" cy="1536192"/>
          </a:xfrm>
          <a:prstGeom prst="roundRect">
            <a:avLst>
              <a:gd name="adj" fmla="val 4500"/>
            </a:avLst>
          </a:prstGeom>
          <a:solidFill>
            <a:srgbClr val="EFF4FA"/>
          </a:solidFill>
          <a:ln w="9525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9" name="Oval 17418"/>
          <p:cNvSpPr/>
          <p:nvPr/>
        </p:nvSpPr>
        <p:spPr>
          <a:xfrm>
            <a:off x="402336" y="5326380"/>
            <a:ext cx="105156" cy="10515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566928" y="5230368"/>
            <a:ext cx="11164824" cy="138988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250" b="1" i="0">
                <a:solidFill>
                  <a:srgbClr val="1F497D"/>
                </a:solidFill>
                <a:latin typeface="Arial"/>
              </a:rPr>
              <a:t>Our own work, and where else this idea has been</a:t>
            </a:r>
          </a:p>
          <a:p>
            <a:pPr marL="146304" indent="-146304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200" b="1" i="0">
                <a:solidFill>
                  <a:srgbClr val="0070C0"/>
                </a:solidFill>
                <a:latin typeface="Arial"/>
              </a:rPr>
              <a:t>github.com/Saurabh0003M/SIH</a:t>
            </a:r>
            <a:r>
              <a:rPr sz="1100" b="0" i="0">
                <a:solidFill>
                  <a:srgbClr val="1A1A1A"/>
                </a:solidFill>
                <a:latin typeface="Arial"/>
              </a:rPr>
              <a:t> — the working prototype, the practice portal, the recorded runs, and ATTRIBUTION.md: every borrowed repository with its licence and commit hash.</a:t>
            </a:r>
          </a:p>
          <a:p>
            <a:pPr marL="146304" indent="-146304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>
                <a:solidFill>
                  <a:srgbClr val="1A1A1A"/>
                </a:solidFill>
                <a:latin typeface="Arial"/>
              </a:rPr>
              <a:t>Read-only grounding runs on live public portals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(scholarships.gov.in, swayam.gov.in, aicte-india.org) are recorded in deck/real-site-run.md — including the ones Disha got wrong and reported red.</a:t>
            </a:r>
          </a:p>
          <a:p>
            <a:pPr marL="146304" indent="-146304">
              <a:buClr>
                <a:srgbClr val="0070C0"/>
              </a:buClr>
              <a:buFont typeface="Arial"/>
              <a:buChar char="•"/>
            </a:pPr>
            <a:r>
              <a:rPr sz="1100" b="1" i="0">
                <a:solidFill>
                  <a:srgbClr val="1A1A1A"/>
                </a:solidFill>
                <a:latin typeface="Arial"/>
              </a:rPr>
              <a:t>Red Bull Basement 2026: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this idea is in the programme. Participating teams receive $1,000 in Microsoft Azure credits through Microsoft for Startups — an application-phase benefit, not a prize.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146304"/>
            <a:ext cx="11676888" cy="56692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buNone/>
            </a:pPr>
            <a:r>
              <a:rPr sz="3000" b="1" i="0">
                <a:solidFill>
                  <a:srgbClr val="1F497D"/>
                </a:solidFill>
                <a:latin typeface="Times New Roman"/>
              </a:rPr>
              <a:t>Disha is running. Ask us anything.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3139249"/>
            <a:ext cx="3825239" cy="5486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1F497D"/>
                </a:solidFill>
                <a:latin typeface="Arial"/>
              </a:rPr>
              <a:t>Four dots, three screens</a:t>
            </a:r>
          </a:p>
          <a:p>
            <a:pPr algn="ctr">
              <a:buNone/>
            </a:pPr>
            <a:r>
              <a:rPr sz="1050" b="0" i="1">
                <a:solidFill>
                  <a:srgbClr val="595959"/>
                </a:solidFill>
                <a:latin typeface="Arial"/>
              </a:rPr>
              <a:t>one goal, typed in plain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81856" y="3139249"/>
            <a:ext cx="3825239" cy="5486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1F497D"/>
                </a:solidFill>
                <a:latin typeface="Arial"/>
              </a:rPr>
              <a:t>The near-tie it refuses to guess</a:t>
            </a:r>
          </a:p>
          <a:p>
            <a:pPr algn="ctr">
              <a:buNone/>
            </a:pPr>
            <a:r>
              <a:rPr sz="1050" b="0" i="1">
                <a:solidFill>
                  <a:srgbClr val="595959"/>
                </a:solidFill>
                <a:latin typeface="Arial"/>
              </a:rPr>
              <a:t>red at 51%, and the card saying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44256" y="3139249"/>
            <a:ext cx="3825239" cy="5486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1F497D"/>
                </a:solidFill>
                <a:latin typeface="Arial"/>
              </a:rPr>
              <a:t>Every navigation state</a:t>
            </a:r>
          </a:p>
          <a:p>
            <a:pPr algn="ctr">
              <a:buNone/>
            </a:pPr>
            <a:r>
              <a:rPr sz="1050" b="0" i="1">
                <a:solidFill>
                  <a:srgbClr val="595959"/>
                </a:solidFill>
                <a:latin typeface="Arial"/>
              </a:rPr>
              <a:t>two arrowheads, then one, then the dot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3797617"/>
            <a:ext cx="11676888" cy="2895790"/>
          </a:xfrm>
          <a:prstGeom prst="roundRect">
            <a:avLst>
              <a:gd name="adj" fmla="val 4500"/>
            </a:avLst>
          </a:prstGeom>
          <a:solidFill>
            <a:srgbClr val="F4F7FB"/>
          </a:solidFill>
          <a:ln w="9525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3889057"/>
            <a:ext cx="11237976" cy="271291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300" b="1" i="0">
                <a:solidFill>
                  <a:srgbClr val="1F497D"/>
                </a:solidFill>
                <a:latin typeface="Arial"/>
              </a:rPr>
              <a:t>What you are looking at</a:t>
            </a:r>
          </a:p>
          <a:p>
            <a:pPr marL="146304" indent="-146304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>
                <a:solidFill>
                  <a:srgbClr val="1A1A1A"/>
                </a:solidFill>
                <a:latin typeface="Arial"/>
              </a:rPr>
              <a:t>Measured on our practice portal: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“i want to take my money out” gave 64% → 57% → 51% red → 75%. That run used the offline matcher with no model, which is capped below green by design.</a:t>
            </a:r>
          </a:p>
          <a:p>
            <a:pPr marL="146304" indent="-146304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>
                <a:solidFill>
                  <a:srgbClr val="1A1A1A"/>
                </a:solidFill>
                <a:latin typeface="Arial"/>
              </a:rPr>
              <a:t>Green needs two numbers to agree: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model ≥ 0.80 AND page evidence ≥ 0.75. We display the weaker of the two, never the average, so the number can never contradict the colour.</a:t>
            </a:r>
          </a:p>
          <a:p>
            <a:pPr marL="146304" indent="-146304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>
                <a:solidFill>
                  <a:srgbClr val="1A1A1A"/>
                </a:solidFill>
                <a:latin typeface="Arial"/>
              </a:rPr>
              <a:t>Read-only runs on live public portals: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scholarships.gov.in, swayam.gov.in, aicte-india.org — including the ones it got wrong and reported red. Nothing was clicked on any of them.</a:t>
            </a:r>
          </a:p>
          <a:p>
            <a:pPr marL="146304" indent="-146304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>
                <a:solidFill>
                  <a:srgbClr val="1A1A1A"/>
                </a:solidFill>
                <a:latin typeface="Arial"/>
              </a:rPr>
              <a:t>What we do not claim: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accuracy is unmeasured, the vision fallback is documented but not built, and Microsoft Copilot Vision already points at things — we say so on slide 2.</a:t>
            </a:r>
          </a:p>
          <a:p>
            <a:pPr marL="146304" indent="-146304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>
                <a:solidFill>
                  <a:srgbClr val="1A1A1A"/>
                </a:solidFill>
                <a:latin typeface="Arial"/>
              </a:rPr>
              <a:t>Why not let the AI click?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On an Aadhaar or a banking page a wrong click is a transaction, not a glance. And the moment it clicks for you, you have learned nothing. The human clicking is the product.</a:t>
            </a:r>
          </a:p>
          <a:p>
            <a:pPr marL="146304" indent="-146304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>
                <a:solidFill>
                  <a:srgbClr val="1A1A1A"/>
                </a:solidFill>
                <a:latin typeface="Arial"/>
              </a:rPr>
              <a:t>Who pays for it?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Nobody has to. Free-tier model, or a local one at zero cost that never leaves the machine. Installs as an extension — no ministry integration, no portal changes.</a:t>
            </a:r>
          </a:p>
        </p:txBody>
      </p:sp>
      <p:pic>
        <p:nvPicPr>
          <p:cNvPr id="11" name="VIDEO-01-chain">
            <a:hlinkClick r:id="" action="ppaction://media"/>
            <a:extLst>
              <a:ext uri="{FF2B5EF4-FFF2-40B4-BE49-F238E27FC236}">
                <a16:creationId xmlns:a16="http://schemas.microsoft.com/office/drawing/2014/main" id="{617DA83E-634E-7392-E269-C53F58997E2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19456" y="932688"/>
            <a:ext cx="3817957" cy="2151697"/>
          </a:xfrm>
          <a:prstGeom prst="rect">
            <a:avLst/>
          </a:prstGeom>
        </p:spPr>
      </p:pic>
      <p:pic>
        <p:nvPicPr>
          <p:cNvPr id="12" name="VIDEO-02-red-verify">
            <a:hlinkClick r:id="" action="ppaction://media"/>
            <a:extLst>
              <a:ext uri="{FF2B5EF4-FFF2-40B4-BE49-F238E27FC236}">
                <a16:creationId xmlns:a16="http://schemas.microsoft.com/office/drawing/2014/main" id="{D9F29818-40B5-80C1-B67F-A9A7282CBD9A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181856" y="932688"/>
            <a:ext cx="3817957" cy="2151697"/>
          </a:xfrm>
          <a:prstGeom prst="rect">
            <a:avLst/>
          </a:prstGeom>
        </p:spPr>
      </p:pic>
      <p:pic>
        <p:nvPicPr>
          <p:cNvPr id="13" name="VIDEO-03-navigation">
            <a:hlinkClick r:id="" action="ppaction://media"/>
            <a:extLst>
              <a:ext uri="{FF2B5EF4-FFF2-40B4-BE49-F238E27FC236}">
                <a16:creationId xmlns:a16="http://schemas.microsoft.com/office/drawing/2014/main" id="{8B50A1A9-1AC9-D819-F336-D7D318B6022C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144256" y="932688"/>
            <a:ext cx="3817957" cy="21516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20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420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867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21967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video>
              <p:cMediaNode vol="80000">
                <p:cTn id="13" repeatCount="indefinite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video>
              <p:cMediaNode vol="80000">
                <p:cTn id="14" repeatCount="indefinite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1721</Words>
  <Application>Microsoft Office PowerPoint</Application>
  <PresentationFormat>Widescreen</PresentationFormat>
  <Paragraphs>126</Paragraphs>
  <Slides>7</Slides>
  <Notes>5</Notes>
  <HiddenSlides>0</HiddenSlides>
  <MMClips>6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Courier New</vt:lpstr>
      <vt:lpstr>Garamond</vt:lpstr>
      <vt:lpstr>Times New Roman</vt:lpstr>
      <vt:lpstr>TradeGothic</vt:lpstr>
      <vt:lpstr>Office Theme</vt:lpstr>
      <vt:lpstr>SMART INDIA HACKATHON 2025</vt:lpstr>
      <vt:lpstr> Disha — it points, you click, and then it fades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Saurabh Tomke</cp:lastModifiedBy>
  <cp:revision>1</cp:revision>
  <dcterms:modified xsi:type="dcterms:W3CDTF">2026-09-10T03:49:37Z</dcterms:modified>
</cp:coreProperties>
</file>